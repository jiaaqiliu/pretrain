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3"/>
    <p:restoredTop sz="95937"/>
  </p:normalViewPr>
  <p:slideViewPr>
    <p:cSldViewPr snapToGrid="0" snapToObjects="1">
      <p:cViewPr varScale="1">
        <p:scale>
          <a:sx n="122" d="100"/>
          <a:sy n="122" d="100"/>
        </p:scale>
        <p:origin x="80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defRPr sz="5200" b="1">
                <a:solidFill>
                  <a:srgbClr val="1F2D3D"/>
                </a:solidFill>
                <a:latin typeface="Microsoft YaHei"/>
              </a:defRPr>
            </a:pPr>
            <a:r>
              <a:t>Beyond Loss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Spectral Monitoring for LLM Pretraining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40514" y="3979217"/>
            <a:ext cx="173736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rPr sz="1400" b="1">
                <a:solidFill>
                  <a:schemeClr val="tx1"/>
                </a:solidFill>
              </a:rPr>
              <a:t>14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75165" y="3979217"/>
            <a:ext cx="173736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rPr sz="1400" b="1">
                <a:solidFill>
                  <a:schemeClr val="tx1"/>
                </a:solidFill>
              </a:rPr>
              <a:t>4 Architectures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9815" y="3979217"/>
            <a:ext cx="222504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rPr sz="1400" b="1">
                <a:solidFill>
                  <a:schemeClr val="tx1"/>
                </a:solidFill>
              </a:rPr>
              <a:t>~340 Checkpoints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32146" y="3979217"/>
            <a:ext cx="2225040" cy="4114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2D6A4F"/>
                </a:solidFill>
                <a:latin typeface="Microsoft YaHei"/>
              </a:defRPr>
            </a:pPr>
            <a:r>
              <a:rPr sz="1400" b="1" dirty="0">
                <a:solidFill>
                  <a:schemeClr val="tx1"/>
                </a:solidFill>
              </a:rPr>
              <a:t>2 Scales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01 / 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10149-AD83-1D10-71C7-7D73E983C068}"/>
              </a:ext>
            </a:extLst>
          </p:cNvPr>
          <p:cNvSpPr txBox="1"/>
          <p:nvPr/>
        </p:nvSpPr>
        <p:spPr>
          <a:xfrm>
            <a:off x="5118537" y="4728554"/>
            <a:ext cx="1608082" cy="42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A5A6B"/>
                </a:solidFill>
                <a:latin typeface="Microsoft YaHei"/>
              </a:defRPr>
            </a:pPr>
            <a:r>
              <a:rPr lang="en-US" sz="2000" dirty="0"/>
              <a:t>Jiaqi Liu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747294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The "Blind Flight" of Pretraining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593338"/>
              </p:ext>
            </p:extLst>
          </p:nvPr>
        </p:nvGraphicFramePr>
        <p:xfrm>
          <a:off x="731519" y="1645920"/>
          <a:ext cx="5889996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GPUs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GPT-4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~$100M+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Tens of thousands A100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rPr dirty="0"/>
                        <a:t>3-6 </a:t>
                      </a:r>
                      <a:r>
                        <a:rPr dirty="0" err="1"/>
                        <a:t>mo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Llama-3-70B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16K H100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~3 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DeepSeek-V3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~$5.5M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2048 H800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rPr dirty="0"/>
                        <a:t>2 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645920"/>
            <a:ext cx="4572000" cy="228600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$100M+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743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0">
                <a:solidFill>
                  <a:srgbClr val="8E9CAD"/>
                </a:solidFill>
                <a:latin typeface="Microsoft YaHei"/>
              </a:defRPr>
            </a:pPr>
            <a:r>
              <a:t>Only 1 instrument:</a:t>
            </a:r>
            <a:br/>
            <a:r>
              <a:t>training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06340"/>
            <a:ext cx="10515600" cy="6400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1A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93079" y="5166360"/>
            <a:ext cx="935404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Throughout training, the core metric for judging </a:t>
            </a:r>
            <a:r>
              <a:rPr lang="en-US" dirty="0"/>
              <a:t>is typically</a:t>
            </a:r>
            <a:r>
              <a:rPr dirty="0"/>
              <a:t> just: training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Four </a:t>
            </a:r>
            <a:r>
              <a:rPr dirty="0" err="1"/>
              <a:t>Blind Spots</a:t>
            </a:r>
            <a:r>
              <a:rPr lang="en-US" dirty="0" err="1"/>
              <a:t> of Loss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8B2C3A"/>
                </a:solidFill>
                <a:latin typeface="Microsoft YaHei"/>
              </a:defRPr>
            </a:pPr>
            <a:r>
              <a:t>Blind Spot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Loss ↓ ≠ Better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Memorization also reduces loss, but generalization structure degrades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t>Blind Spot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Incomparable Across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Loss=3.0 for 1B vs. 70B mean entirely different things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4A3F7A"/>
                </a:solidFill>
                <a:latin typeface="Microsoft YaHei"/>
              </a:defRPr>
            </a:pPr>
            <a:r>
              <a:t>Blind Spot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No Signal for LR Decay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Cosine/WSD are pre-set by humans, lacking model-intrinsic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Blind Spot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No Early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Structure degrades while loss still drops—until irreversible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46892"/>
            <a:ext cx="10515600" cy="896555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1817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967117"/>
                </a:solidFill>
                <a:latin typeface="Microsoft YaHei"/>
              </a:defRPr>
            </a:pPr>
            <a:r>
              <a:rPr dirty="0"/>
              <a:t>Key Insight: Intelligence is not memorizing information</a:t>
            </a:r>
            <a:r>
              <a:rPr lang="en-US" dirty="0"/>
              <a:t>, </a:t>
            </a:r>
            <a:r>
              <a:rPr dirty="0"/>
              <a:t>but discovering structure</a:t>
            </a:r>
            <a:r>
              <a:rPr lang="en-US" dirty="0"/>
              <a:t>,</a:t>
            </a:r>
          </a:p>
          <a:p>
            <a:pPr algn="ctr">
              <a:lnSpc>
                <a:spcPts val="1800"/>
              </a:lnSpc>
              <a:defRPr sz="1500" b="1">
                <a:solidFill>
                  <a:srgbClr val="967117"/>
                </a:solidFill>
                <a:latin typeface="Microsoft YaHei"/>
              </a:defRPr>
            </a:pPr>
            <a:r>
              <a:rPr dirty="0"/>
              <a:t>We need to measure structure directly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Two Core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Two Spectral Metrics: SR/d &amp; 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Metric 1: SR/d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6093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Normalized Stable Rank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572000" cy="79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600" b="0">
                <a:solidFill>
                  <a:srgbClr val="1F2D3D"/>
                </a:solidFill>
                <a:latin typeface="Consolas"/>
              </a:defRPr>
            </a:pPr>
            <a:r>
              <a:rPr dirty="0"/>
              <a:t>SR(W) = ||W||²F / σ₁²    →    </a:t>
            </a:r>
            <a:endParaRPr lang="en-US" dirty="0"/>
          </a:p>
          <a:p>
            <a:pPr algn="ctr">
              <a:lnSpc>
                <a:spcPct val="150000"/>
              </a:lnSpc>
              <a:defRPr sz="1600" b="0">
                <a:solidFill>
                  <a:srgbClr val="1F2D3D"/>
                </a:solidFill>
                <a:latin typeface="Consolas"/>
              </a:defRPr>
            </a:pPr>
            <a:r>
              <a:rPr dirty="0"/>
              <a:t>SR/d = SR(W) / </a:t>
            </a:r>
            <a:r>
              <a:rPr dirty="0" err="1"/>
              <a:t>d_model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896201"/>
            <a:ext cx="5029200" cy="91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Physical meaning</a:t>
            </a:r>
            <a:r>
              <a:rPr dirty="0"/>
              <a:t>: </a:t>
            </a:r>
            <a:r>
              <a:rPr dirty="0" err="1"/>
              <a:t>Fraction of available dimension space the matrix uses</a:t>
            </a:r>
            <a:endParaRPr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Mathematical identity</a:t>
            </a:r>
            <a:r>
              <a:rPr dirty="0"/>
              <a:t>: SR = exp(H₂),</a:t>
            </a:r>
            <a:r>
              <a:rPr dirty="0" err="1"/>
              <a:t> i.e.,</a:t>
            </a:r>
            <a:r>
              <a:rPr dirty="0"/>
              <a:t> Rényi-2 </a:t>
            </a:r>
            <a:r>
              <a:rPr dirty="0" err="1"/>
              <a:t>exponential of spectral entropy</a:t>
            </a:r>
            <a:endParaRPr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Compute cost</a:t>
            </a:r>
            <a:r>
              <a:rPr dirty="0"/>
              <a:t>: O(</a:t>
            </a:r>
            <a:r>
              <a:rPr dirty="0" err="1"/>
              <a:t>mn</a:t>
            </a:r>
            <a:r>
              <a:rPr dirty="0"/>
              <a:t>), 7B </a:t>
            </a:r>
            <a:r>
              <a:rPr dirty="0" err="1"/>
              <a:t>all layers</a:t>
            </a:r>
            <a:r>
              <a:rPr dirty="0"/>
              <a:t> ~5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72327"/>
            <a:ext cx="4348712" cy="910891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143609"/>
            <a:ext cx="379113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rPr dirty="0"/>
              <a:t>SR/d ↓ = </a:t>
            </a:r>
            <a:r>
              <a:rPr dirty="0" err="1"/>
              <a:t>spectral entropy decreasing</a:t>
            </a:r>
            <a:r>
              <a:rPr dirty="0"/>
              <a:t> = </a:t>
            </a:r>
            <a:r>
              <a:rPr dirty="0" err="1"/>
              <a:t>information compressing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858000" y="1463040"/>
            <a:ext cx="41148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7C8A97"/>
                </a:solidFill>
                <a:latin typeface="Consolas"/>
              </a:defRPr>
            </a:pPr>
            <a:r>
              <a:t>~0.40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Random Initialization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7C8A97"/>
                </a:solidFill>
                <a:latin typeface="Microsoft YaHei"/>
              </a:defRPr>
            </a:pPr>
            <a:r>
              <a:t>↓ Training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383280"/>
            <a:ext cx="41148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1A4F8B"/>
                </a:solidFill>
                <a:latin typeface="Consolas"/>
              </a:defRPr>
            </a:pPr>
            <a:r>
              <a:t>~0.05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Fully 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754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Compression ~8× → ΔH₂ ≈ -2.0 nats</a:t>
            </a:r>
            <a:br/>
            <a:r>
              <a:t>(Universal across all models!)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Metric 2: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793" y="6172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Power-Law Exponent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572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842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1F2D3D"/>
                </a:solidFill>
                <a:latin typeface="Consolas"/>
              </a:defRPr>
            </a:pPr>
            <a:r>
              <a:t>P(λ) ~ λ⁻ᵅ    (ESD of WᵀW)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91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Physical meaning</a:t>
            </a:r>
            <a:r>
              <a:rPr dirty="0"/>
              <a:t>: </a:t>
            </a:r>
            <a:r>
              <a:rPr dirty="0" err="1"/>
              <a:t>Structural quality of weight matrices</a:t>
            </a:r>
            <a:endParaRPr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Theoretical basis</a:t>
            </a:r>
            <a:r>
              <a:rPr dirty="0"/>
              <a:t>: Heavy-Tail Self-Regularization (HTSR)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α ↓ = heavy-tail ↑ = </a:t>
            </a:r>
            <a:r>
              <a:rPr dirty="0" err="1"/>
              <a:t>generalization</a:t>
            </a:r>
            <a:r>
              <a:rPr dirty="0"/>
              <a:t> 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4389120"/>
            <a:ext cx="4912536" cy="137160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694384"/>
            <a:ext cx="4571999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8B2C3A"/>
                </a:solidFill>
                <a:latin typeface="Microsoft YaHei"/>
              </a:defRPr>
            </a:pPr>
            <a:r>
              <a:rPr dirty="0" err="1"/>
              <a:t>Key finding</a:t>
            </a:r>
            <a:r>
              <a:rPr dirty="0"/>
              <a:t>: α </a:t>
            </a:r>
            <a:r>
              <a:rPr dirty="0" err="1"/>
              <a:t>is not monotonically decreasing—</a:t>
            </a:r>
            <a:br>
              <a:rPr dirty="0"/>
            </a:br>
            <a:r>
              <a:rPr dirty="0" err="1"/>
              <a:t>it reverses in large models</a:t>
            </a:r>
            <a:r>
              <a:rPr dirty="0"/>
              <a:t> (Reversal)!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75217"/>
              </p:ext>
            </p:extLst>
          </p:nvPr>
        </p:nvGraphicFramePr>
        <p:xfrm>
          <a:off x="5943600" y="1463040"/>
          <a:ext cx="521208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5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α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rPr dirty="0"/>
                        <a:t>&gt;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Near Marchenko-Pastur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4 ~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Bulk+Spikes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Partially 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2 ~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Heavy-Tail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Well self-regularized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rPr dirty="0"/>
                        <a:t>&lt;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t>Over-trained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rPr dirty="0"/>
                        <a:t>Rank collapse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5029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rPr dirty="0"/>
              <a:t>Martin &amp; Mahoney (JMLR 2021)</a:t>
            </a:r>
            <a:br>
              <a:rPr dirty="0"/>
            </a:br>
            <a:r>
              <a:rPr dirty="0" err="1"/>
              <a:t>Well-trained layers follow</a:t>
            </a:r>
            <a:r>
              <a:rPr dirty="0"/>
              <a:t> power-law </a:t>
            </a:r>
            <a:r>
              <a:rPr dirty="0" err="1"/>
              <a:t>distributions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Two Metrics in Concert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8334" y="594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Spectral Phase Portrait</a:t>
            </a:r>
          </a:p>
        </p:txBody>
      </p:sp>
      <p:pic>
        <p:nvPicPr>
          <p:cNvPr id="4" name="Picture 3" descr="fig01_phase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98130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8372" y="2439698"/>
            <a:ext cx="5388623" cy="231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Well-trained small models (</a:t>
            </a:r>
            <a:r>
              <a:rPr lang="en-US" altLang="zh-CN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M–1B)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converge to the lower-left "mature" region (</a:t>
            </a:r>
            <a:r>
              <a:rPr lang="el-GR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 &lt; 4, 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SR/d &lt; 0.08)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Under-trained large models (</a:t>
            </a:r>
            <a:r>
              <a:rPr lang="en-US" altLang="zh-CN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2.8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B, 6.9B)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stall in the "transition" zone</a:t>
            </a:r>
            <a:endParaRPr lang="en-US" altLang="zh-CN" sz="1400" dirty="0">
              <a:solidFill>
                <a:srgbClr val="7C8A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OLMo-2-13B 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reverses direction after reaching its </a:t>
            </a:r>
            <a:r>
              <a:rPr lang="el-GR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 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minimum, moving away from maturity</a:t>
            </a:r>
            <a:endParaRPr lang="en-US" altLang="zh-CN" sz="1400" dirty="0">
              <a:solidFill>
                <a:srgbClr val="7C8A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 models share the compression axis (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SR/d 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converges universally), but diverge on the structural quality axis (</a:t>
            </a:r>
            <a:r>
              <a:rPr lang="el-GR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α)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sz="1400" dirty="0">
              <a:solidFill>
                <a:srgbClr val="7C8A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Key Findings from 14 Models × 4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Finding 1: SR/d Universal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Universal Convergence</a:t>
            </a:r>
          </a:p>
        </p:txBody>
      </p:sp>
      <p:pic>
        <p:nvPicPr>
          <p:cNvPr id="4" name="Picture 3" descr="fig02_sr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97129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38912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1F2D3D"/>
                </a:solidFill>
                <a:latin typeface="Consolas"/>
              </a:defRPr>
            </a:pPr>
            <a:r>
              <a:rPr dirty="0"/>
              <a:t>SR/d(∞) = 0.040 + 0.61 / √d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743200"/>
            <a:ext cx="4389120" cy="1093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All 14 models converge to 0.04-0.07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Determined solely by layer width d, independent of depth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OLMo-2-13B and 32B (same d=5120):</a:t>
            </a:r>
            <a:br>
              <a:rPr dirty="0"/>
            </a:br>
            <a:r>
              <a:rPr dirty="0"/>
              <a:t>  Identical SR/d (0.043)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573760"/>
            <a:ext cx="4681308" cy="109376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4710920"/>
            <a:ext cx="420624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1">
                <a:solidFill>
                  <a:srgbClr val="2D6A4F"/>
                </a:solidFill>
                <a:latin typeface="Microsoft YaHei"/>
              </a:defRPr>
            </a:pPr>
            <a:r>
              <a:rPr dirty="0"/>
              <a:t>Universal Compression Law: ΔH₂ = -2.04 ± 0.17 </a:t>
            </a:r>
            <a:r>
              <a:rPr dirty="0" err="1"/>
              <a:t>nats</a:t>
            </a:r>
            <a:endParaRPr lang="en-US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1">
                <a:solidFill>
                  <a:srgbClr val="2D6A4F"/>
                </a:solidFill>
                <a:latin typeface="Microsoft YaHei"/>
              </a:defRPr>
            </a:pPr>
            <a:r>
              <a:rPr dirty="0"/>
              <a:t>All Transformers compress exactly ~2 </a:t>
            </a:r>
            <a:r>
              <a:rPr dirty="0" err="1"/>
              <a:t>nats</a:t>
            </a:r>
            <a:r>
              <a:rPr dirty="0"/>
              <a:t> of spectral entropy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Finding 2: α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632443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8B2C3A"/>
                </a:solidFill>
                <a:latin typeface="Microsoft YaHei"/>
              </a:defRPr>
            </a:pPr>
            <a:r>
              <a:rPr dirty="0"/>
              <a:t>Structural Degradation Signal</a:t>
            </a:r>
          </a:p>
        </p:txBody>
      </p:sp>
      <p:pic>
        <p:nvPicPr>
          <p:cNvPr id="4" name="Picture 3" descr="fig03_alpha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2554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5334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8B2C3A"/>
                </a:solidFill>
                <a:latin typeface="Microsoft YaHei"/>
              </a:defRPr>
            </a:pPr>
            <a:r>
              <a:rPr dirty="0"/>
              <a:t>Loss decreases, but structure degrades!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03120"/>
            <a:ext cx="4572000" cy="83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OLMo-2-13B: α reverses from 4.25 to 6.95 (Δα=+2.71)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5/8 large models show reversal, consistent across architectures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MLP-driven: α_mlp rises while α_attn stays stable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231" y="4639901"/>
            <a:ext cx="7764700" cy="1425921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4112" y="4822781"/>
            <a:ext cx="420624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Consolas"/>
              </a:defRPr>
            </a:pPr>
            <a:r>
              <a:rPr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111" y="5046014"/>
            <a:ext cx="7340081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Stacking blocks in a noisy room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Once useful learning is done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 gradient direction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),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noise shakes apart fine structure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(α↑).</a:t>
            </a:r>
            <a:b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Reducing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LR =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less vibration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protects structure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457200"/>
            <a:ext cx="9106163" cy="54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sz="2400" dirty="0"/>
              <a:t>Finding 3: Predicting Downstream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60671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Predictive Power</a:t>
            </a:r>
          </a:p>
        </p:txBody>
      </p:sp>
      <p:pic>
        <p:nvPicPr>
          <p:cNvPr id="4" name="Picture 3" descr="fig08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041511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1A4F8B"/>
                </a:solidFill>
                <a:latin typeface="Consolas"/>
              </a:defRPr>
            </a:pPr>
            <a:r>
              <a:t>−0.90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Spearman 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1A4F8B"/>
                </a:solidFill>
                <a:latin typeface="Consolas"/>
              </a:defRPr>
            </a:pPr>
            <a:r>
              <a:t>0.63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R² (univariate)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4A3F7A"/>
                </a:solidFill>
                <a:latin typeface="Consolas"/>
              </a:defRPr>
            </a:pPr>
            <a:r>
              <a:t>0.84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R² (+log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N=102 (6 models × 17 checkpoints × 5 benchmarks)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200400"/>
            <a:ext cx="5029200" cy="6400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1F2D3D"/>
                </a:solidFill>
                <a:latin typeface="Consolas"/>
              </a:defRPr>
            </a:pPr>
            <a:r>
              <a:t>Perf ≈ -0.248·log₁₀(SR/d) + 0.062·log₁₀(N) - 0.365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06240"/>
            <a:ext cx="5029200" cy="9144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3186" y="4333473"/>
            <a:ext cx="4663440" cy="65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rPr dirty="0" err="1"/>
              <a:t>No training</a:t>
            </a:r>
            <a:r>
              <a:rPr dirty="0"/>
              <a:t>/</a:t>
            </a:r>
            <a:r>
              <a:rPr dirty="0" err="1"/>
              <a:t>test data or</a:t>
            </a:r>
            <a:r>
              <a:rPr dirty="0"/>
              <a:t> </a:t>
            </a:r>
            <a:r>
              <a:rPr dirty="0" err="1"/>
              <a:t>loss needed—predicts</a:t>
            </a:r>
            <a:r>
              <a:rPr dirty="0"/>
              <a:t> 84% </a:t>
            </a:r>
            <a:r>
              <a:rPr dirty="0" err="1"/>
              <a:t>of downstream variance from weights alone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Finding 4: Structural Phase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7583" y="130216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8B2C3A"/>
                </a:solidFill>
                <a:latin typeface="Microsoft YaHei"/>
              </a:defRPr>
            </a:pPr>
            <a:r>
              <a:t>Phase Transition at N ≈ 1.7B</a:t>
            </a:r>
          </a:p>
        </p:txBody>
      </p:sp>
      <p:pic>
        <p:nvPicPr>
          <p:cNvPr id="4" name="Picture 3" descr="fig07_phas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19367"/>
            <a:ext cx="7636721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87583" y="1931330"/>
            <a:ext cx="3541658" cy="149767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5192110"/>
            <a:ext cx="4389120" cy="1072435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361824"/>
            <a:ext cx="4389120" cy="4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1F2D3D"/>
                </a:solidFill>
                <a:latin typeface="Consolas"/>
              </a:defRPr>
            </a:pPr>
            <a:r>
              <a:rPr sz="1400" dirty="0"/>
              <a:t>α(N) ≈ 2.65 + 2.1 × </a:t>
            </a:r>
            <a:r>
              <a:rPr sz="1400" dirty="0" err="1"/>
              <a:t>σ</a:t>
            </a:r>
            <a:r>
              <a:rPr sz="1400" dirty="0"/>
              <a:t>((log₁₀N - 9.23) / 0.07)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98785"/>
            <a:ext cx="438912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sz="1400" dirty="0"/>
              <a:t>Sigmoid fit R² = 0.97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3640" y="5192110"/>
            <a:ext cx="5476511" cy="1072435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557" y="5399775"/>
            <a:ext cx="5064594" cy="65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rPr dirty="0"/>
              <a:t>"</a:t>
            </a:r>
            <a:r>
              <a:rPr dirty="0" err="1"/>
              <a:t>Large models are hard to train</a:t>
            </a:r>
            <a:r>
              <a:rPr dirty="0"/>
              <a:t>" </a:t>
            </a:r>
            <a:r>
              <a:rPr dirty="0" err="1"/>
              <a:t>is not just a data issue</a:t>
            </a:r>
            <a:br>
              <a:rPr dirty="0"/>
            </a:br>
            <a:r>
              <a:rPr dirty="0"/>
              <a:t>—</a:t>
            </a:r>
            <a:r>
              <a:rPr dirty="0" err="1"/>
              <a:t>large models are fundamentally harder to structure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12 / 37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829A9-4EE1-DF74-D915-0CB12224243F}"/>
              </a:ext>
            </a:extLst>
          </p:cNvPr>
          <p:cNvSpPr txBox="1"/>
          <p:nvPr/>
        </p:nvSpPr>
        <p:spPr>
          <a:xfrm>
            <a:off x="8512854" y="2262357"/>
            <a:ext cx="3132609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  <a:defRPr sz="1400" b="0">
                <a:solidFill>
                  <a:srgbClr val="1F2D3D"/>
                </a:solidFill>
                <a:latin typeface="Microsoft YaHei"/>
              </a:defRPr>
            </a:pPr>
            <a:r>
              <a:rPr lang="en-US" dirty="0"/>
              <a:t>&lt; 1.7B: </a:t>
            </a:r>
            <a:r>
              <a:rPr lang="el-GR" dirty="0"/>
              <a:t>α </a:t>
            </a:r>
            <a:r>
              <a:rPr lang="en-US" dirty="0"/>
              <a:t>can drop to &lt;3 (structurally mature)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  <a:defRPr sz="1400" b="0">
                <a:solidFill>
                  <a:srgbClr val="1F2D3D"/>
                </a:solidFill>
                <a:latin typeface="Microsoft YaHei"/>
              </a:defRPr>
            </a:pPr>
            <a:r>
              <a:rPr lang="en-US" dirty="0"/>
              <a:t>&gt; 1.7B: </a:t>
            </a:r>
            <a:r>
              <a:rPr lang="el-GR" dirty="0"/>
              <a:t>α </a:t>
            </a:r>
            <a:r>
              <a:rPr lang="en-US" dirty="0"/>
              <a:t>stuck &gt;5 (structurally immature)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9933" y="425143"/>
            <a:ext cx="9342645" cy="54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sz="2800"/>
              <a:t>Finding 5: MLP as Structural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51116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1A4F8B"/>
                </a:solidFill>
                <a:latin typeface="Microsoft YaHei"/>
              </a:defRPr>
            </a:pPr>
            <a:r>
              <a:t>MLP as Structural Bottleneck</a:t>
            </a:r>
          </a:p>
        </p:txBody>
      </p:sp>
      <p:pic>
        <p:nvPicPr>
          <p:cNvPr id="4" name="Picture 3" descr="fig06_mlp_att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34" y="1645920"/>
            <a:ext cx="5420757" cy="411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850385"/>
              </p:ext>
            </p:extLst>
          </p:nvPr>
        </p:nvGraphicFramePr>
        <p:xfrm>
          <a:off x="6675120" y="1751023"/>
          <a:ext cx="484632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α_attn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α_mlp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OLMo-2-1B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3.56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OLMo-2-32B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7.59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Mistral-7B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rPr dirty="0"/>
                        <a:t>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rPr dirty="0"/>
                        <a:t>5.43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4494223"/>
            <a:ext cx="4846320" cy="7315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2280" y="4677103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Attention already structured (α&lt;4), MLP still random (α&gt;7)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540862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4A5A6B"/>
                </a:solidFill>
                <a:latin typeface="Microsoft YaHei"/>
              </a:defRPr>
            </a:pPr>
            <a:r>
              <a:t>→ Prioritize increasing MLP capacity (wider FFN / MoE)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From Diagnosis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α-Guided Adaptive LR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α-Guided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6758" y="640080"/>
            <a:ext cx="274845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Data-Driven LR Decay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114800" cy="6400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74903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Measure α every 500 steps </a:t>
            </a:r>
            <a:endParaRPr lang="en-US" dirty="0"/>
          </a:p>
          <a:p>
            <a:pPr algn="ctr">
              <a:lnSpc>
                <a:spcPts val="1500"/>
              </a:lnSpc>
              <a:defRPr sz="13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(2-layer SVD, ~5s)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7C8A9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411480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Microsoft YaHei"/>
              </a:defRPr>
            </a:pPr>
            <a:r>
              <a:t>Detect: dα/dt &gt; 0 for 3+ consecutive checks?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7C8A9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4114800" cy="64008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8B2C3A"/>
                </a:solidFill>
                <a:latin typeface="Microsoft YaHei"/>
              </a:defRPr>
            </a:pPr>
            <a:r>
              <a:t>Trigger LR Decay (linear → η_min)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Key 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9" y="1920240"/>
            <a:ext cx="5680841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Auto-adapts to different scales</a:t>
            </a:r>
            <a:r>
              <a:rPr dirty="0"/>
              <a:t>: 410M→83%, 1B→74%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Auto-adapts to different data</a:t>
            </a:r>
            <a:r>
              <a:rPr dirty="0"/>
              <a:t>: </a:t>
            </a:r>
            <a:r>
              <a:rPr dirty="0" err="1"/>
              <a:t>No manual tuning needed</a:t>
            </a:r>
            <a:endParaRPr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Signal derived from the model's own structure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5943601" y="3675502"/>
            <a:ext cx="5212079" cy="2304884"/>
          </a:xfrm>
          <a:prstGeom prst="roundRect">
            <a:avLst>
              <a:gd name="adj" fmla="val 7091"/>
            </a:avLst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1" y="3858383"/>
            <a:ext cx="457200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Consolas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Theoretical 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224143"/>
            <a:ext cx="4846319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α reversal = SGD noise &gt; spectral gap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Reducing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→ noise ∝ η²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decreases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→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restores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SNR &gt; 1</a:t>
            </a:r>
            <a:b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(Wedin's sin-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theorem bounds subspace rotation)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093" y="393826"/>
            <a:ext cx="5922579" cy="54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sz="2400"/>
              <a:t>Validation: 410M 3-Way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7C8A97"/>
                </a:solidFill>
                <a:latin typeface="Microsoft YaHei"/>
              </a:defRPr>
            </a:pPr>
            <a:r>
              <a:t>FineWeb-Edu, 10B tokens, 2 seeds</a:t>
            </a:r>
          </a:p>
        </p:txBody>
      </p:sp>
      <p:pic>
        <p:nvPicPr>
          <p:cNvPr id="4" name="Picture 3" descr="fig04_3wa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383" y="1139676"/>
            <a:ext cx="8851573" cy="308132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846418"/>
              </p:ext>
            </p:extLst>
          </p:nvPr>
        </p:nvGraphicFramePr>
        <p:xfrm>
          <a:off x="1036320" y="4452494"/>
          <a:ext cx="4572000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Avg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rPr dirty="0"/>
                        <a:t>2.931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0.459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rPr dirty="0"/>
                        <a:t>0.467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α-Guided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t>2.877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t>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rPr dirty="0"/>
                        <a:t>0.468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5009281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510072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1A4F8B"/>
                </a:solidFill>
                <a:latin typeface="Consolas"/>
              </a:defRPr>
            </a:pPr>
            <a:r>
              <a:t>+1.95%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555792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vs Cosine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009281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510072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1A4F8B"/>
                </a:solidFill>
                <a:latin typeface="Consolas"/>
              </a:defRPr>
            </a:pPr>
            <a:r>
              <a:t>+6.3%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55792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LAMBADA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5009281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0" y="510072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967117"/>
                </a:solidFill>
                <a:latin typeface="Consolas"/>
              </a:defRPr>
            </a:pPr>
            <a:r>
              <a:t>≈ WSD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555792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Auto-matches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Scale-Up: 1B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4463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Advantage Amplifies with Scale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95505"/>
              </p:ext>
            </p:extLst>
          </p:nvPr>
        </p:nvGraphicFramePr>
        <p:xfrm>
          <a:off x="532343" y="1828800"/>
          <a:ext cx="54864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Avg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0.486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latin typeface="Microsoft YaHei"/>
                        </a:defRPr>
                      </a:pPr>
                      <a:r>
                        <a:t>α-Guided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2.709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rPr dirty="0"/>
                        <a:t>0.498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0861" y="5029199"/>
            <a:ext cx="5723601" cy="731519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9007" y="5252611"/>
            <a:ext cx="527307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rPr dirty="0"/>
              <a:t>α-Guided </a:t>
            </a:r>
            <a:r>
              <a:rPr dirty="0" err="1"/>
              <a:t>clearly surpasses</a:t>
            </a:r>
            <a:r>
              <a:rPr dirty="0"/>
              <a:t> WSD (+0.98%),</a:t>
            </a:r>
            <a:r>
              <a:rPr dirty="0" err="1"/>
              <a:t> not just matching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Cross-Scale Trend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44583"/>
              </p:ext>
            </p:extLst>
          </p:nvPr>
        </p:nvGraphicFramePr>
        <p:xfrm>
          <a:off x="6858000" y="1828800"/>
          <a:ext cx="45720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410M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rPr dirty="0"/>
                        <a:t>α-Guided vs 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+2.56%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α-Guided vs 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+0.11%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+0.98%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rPr dirty="0"/>
                        <a:t>Decay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LAMBADA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rPr dirty="0"/>
                        <a:t>+10.2%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5029198"/>
            <a:ext cx="4041228" cy="73152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5166360"/>
            <a:ext cx="370558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rPr dirty="0"/>
              <a:t>Advantage amplifies with scale: expected to be more significant at 7B+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Cross-Architecture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364" y="593297"/>
            <a:ext cx="3253815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Cross-Architecture Validation</a:t>
            </a:r>
          </a:p>
        </p:txBody>
      </p:sp>
      <p:pic>
        <p:nvPicPr>
          <p:cNvPr id="4" name="Picture 3" descr="fig11_cros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526598" cy="3840480"/>
          </a:xfrm>
          <a:prstGeom prst="rect">
            <a:avLst/>
          </a:prstGeom>
        </p:spPr>
      </p:pic>
      <p:pic>
        <p:nvPicPr>
          <p:cNvPr id="5" name="Picture 4" descr="fig05_srd_vs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057216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914400" y="5619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rPr sz="1600" dirty="0"/>
              <a:t>GPT-</a:t>
            </a:r>
            <a:r>
              <a:rPr sz="1600" dirty="0" err="1"/>
              <a:t>NeoX</a:t>
            </a:r>
            <a:r>
              <a:rPr sz="1600" dirty="0"/>
              <a:t> (Pythia)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3624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rPr sz="1400" dirty="0"/>
              <a:t>6 scales, 150 </a:t>
            </a:r>
            <a:r>
              <a:rPr sz="1400" dirty="0" err="1"/>
              <a:t>ckpts</a:t>
            </a:r>
            <a:endParaRPr sz="14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754880" y="5619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rPr sz="1600"/>
              <a:t>OLMo-2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93624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rPr sz="1400"/>
              <a:t>4 scales, 100 ckpts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595360" y="5619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rPr sz="1600"/>
              <a:t>Mistral (GQA)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93624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rPr sz="1400"/>
              <a:t>v0.1 + v0.3, Δα &lt; 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Spectral Structure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89029" y="654965"/>
            <a:ext cx="3250193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Per-Layer Spectral Dynamics</a:t>
            </a:r>
          </a:p>
        </p:txBody>
      </p:sp>
      <p:pic>
        <p:nvPicPr>
          <p:cNvPr id="4" name="Picture 3" descr="fig13_heatmap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46" y="1325880"/>
            <a:ext cx="6671125" cy="4377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19 / 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AF737-F1BB-D735-0BB7-982835FC33CD}"/>
              </a:ext>
            </a:extLst>
          </p:cNvPr>
          <p:cNvSpPr txBox="1"/>
          <p:nvPr/>
        </p:nvSpPr>
        <p:spPr>
          <a:xfrm>
            <a:off x="7489029" y="2691426"/>
            <a:ext cx="4180888" cy="14751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lvl1pPr>
          </a:lstStyle>
          <a:p>
            <a:r>
              <a:rPr lang="en-US" dirty="0"/>
              <a:t>Nearly all structural ordering occurs in the "</a:t>
            </a:r>
            <a:r>
              <a:rPr lang="en-US" dirty="0" err="1"/>
              <a:t>burst phase</a:t>
            </a:r>
            <a:r>
              <a:rPr lang="en-US" dirty="0"/>
              <a:t>" (</a:t>
            </a:r>
            <a:r>
              <a:rPr lang="en-US" dirty="0" err="1"/>
              <a:t>steps</a:t>
            </a:r>
            <a:r>
              <a:rPr lang="en-US" dirty="0"/>
              <a:t> 0 → 6K); </a:t>
            </a:r>
            <a:r>
              <a:rPr lang="en-US" dirty="0" err="1"/>
              <a:t>the subsequent</a:t>
            </a:r>
            <a:r>
              <a:rPr lang="en-US" dirty="0"/>
              <a:t> 132K </a:t>
            </a:r>
            <a:r>
              <a:rPr lang="en-US" dirty="0" err="1"/>
              <a:t>steps produce negligible spectral change</a:t>
            </a:r>
            <a:endParaRPr lang="en-US" dirty="0"/>
          </a:p>
          <a:p>
            <a:r>
              <a:rPr lang="en-US" dirty="0" err="1"/>
              <a:t>Attention layers (blue arrows)</a:t>
            </a:r>
            <a:r>
              <a:rPr lang="en-US" dirty="0"/>
              <a:t> α </a:t>
            </a:r>
            <a:r>
              <a:rPr lang="en-US" dirty="0" err="1"/>
              <a:t>values consistently lower than</a:t>
            </a:r>
            <a:r>
              <a:rPr lang="en-US" dirty="0"/>
              <a:t> MLP </a:t>
            </a:r>
            <a:r>
              <a:rPr lang="en-US" dirty="0" err="1"/>
              <a:t>layers (red arrows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649A3-2C0E-65C4-6791-443B36F3D58C}"/>
              </a:ext>
            </a:extLst>
          </p:cNvPr>
          <p:cNvSpPr txBox="1"/>
          <p:nvPr/>
        </p:nvSpPr>
        <p:spPr>
          <a:xfrm>
            <a:off x="1368658" y="5840843"/>
            <a:ext cx="5285639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lvl1pPr>
          </a:lstStyle>
          <a:p>
            <a:pPr marL="0" indent="0">
              <a:buNone/>
            </a:pPr>
            <a:r>
              <a:rPr lang="en-US" sz="1000" dirty="0"/>
              <a:t>Per-layer α heatmaps of Pythia-1B (top) and Pythia-6.9B (bottom) across 24 </a:t>
            </a:r>
            <a:r>
              <a:rPr lang="en-US" sz="1000" dirty="0" err="1"/>
              <a:t>training checkpoints</a:t>
            </a:r>
            <a:r>
              <a:rPr lang="en-US" sz="1000" dirty="0"/>
              <a:t> α </a:t>
            </a:r>
            <a:r>
              <a:rPr lang="en-US" sz="1000" dirty="0" err="1"/>
              <a:t>heatmap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Practical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Practical Applications for Pretraining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Training Monitoring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0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Health Monitoring Dashboard</a:t>
            </a:r>
          </a:p>
        </p:txBody>
      </p:sp>
      <p:pic>
        <p:nvPicPr>
          <p:cNvPr id="4" name="Picture 3" descr="fig0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274519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82296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0" y="1737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t>🟢 HEALTHY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dα/dt &lt; 0 → Continue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743200"/>
            <a:ext cx="4572000" cy="82296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2834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t>🟡 PLATEAU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154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|dα/dt| ≈ 0 → Consider decay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840480"/>
            <a:ext cx="4572000" cy="82296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3931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8B2C3A"/>
                </a:solidFill>
                <a:latin typeface="Microsoft YaHei"/>
              </a:defRPr>
            </a:pPr>
            <a:r>
              <a:t>🔴 REVERSAL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2519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dα/dt &gt; 0 ×3 → Decay LR immediately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937759"/>
            <a:ext cx="4572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502919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F2D3D"/>
                </a:solidFill>
                <a:latin typeface="Microsoft YaHei"/>
              </a:defRPr>
            </a:pPr>
            <a:r>
              <a:t>⚫ EXHAUSTED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53492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α &gt; 4 + ↑ → Needs more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Cost: &lt; 0.05% training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Post-hoc Model Health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28409" y="563525"/>
            <a:ext cx="2408222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5-Minute Model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Case Study: K2-65B Diagnosis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525757"/>
              </p:ext>
            </p:extLst>
          </p:nvPr>
        </p:nvGraphicFramePr>
        <p:xfrm>
          <a:off x="731520" y="1828800"/>
          <a:ext cx="4572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rPr dirty="0"/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rPr dirty="0"/>
                        <a:t>Below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Immature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Reversal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Δα = +0.65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Degraded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45720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 err="1"/>
              <a:t>Diagnosis</a:t>
            </a:r>
            <a:r>
              <a:rPr sz="1400" dirty="0"/>
              <a:t>: </a:t>
            </a:r>
            <a:r>
              <a:rPr sz="1400" dirty="0" err="1"/>
              <a:t>Undertrained</a:t>
            </a:r>
            <a:r>
              <a:rPr sz="1400" dirty="0"/>
              <a:t> (only 1.4T tokens, D/N=21)</a:t>
            </a:r>
            <a:endParaRPr lang="en-US" sz="1400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 err="1"/>
              <a:t>External validation</a:t>
            </a:r>
            <a:r>
              <a:rPr sz="1400" dirty="0"/>
              <a:t>: K2 </a:t>
            </a:r>
            <a:r>
              <a:rPr sz="1400" dirty="0" err="1"/>
              <a:t>underperforms on</a:t>
            </a:r>
            <a:r>
              <a:rPr sz="1400" dirty="0"/>
              <a:t> 15/21 benchmark </a:t>
            </a:r>
            <a:r>
              <a:rPr sz="1400" dirty="0" err="1"/>
              <a:t>vs.</a:t>
            </a:r>
            <a:r>
              <a:rPr sz="1400" dirty="0"/>
              <a:t> Llama-2-70B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4572000" cy="6400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D6A4F"/>
                </a:solidFill>
                <a:latin typeface="Microsoft YaHei"/>
              </a:defRPr>
            </a:pPr>
            <a:r>
              <a:t>5-min measurement = days of benchmark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Full Model Audit Table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84390"/>
              </p:ext>
            </p:extLst>
          </p:nvPr>
        </p:nvGraphicFramePr>
        <p:xfrm>
          <a:off x="6217920" y="1828800"/>
          <a:ext cx="5029200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Consolas"/>
                        </a:defRPr>
                      </a:pPr>
                      <a:r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Consolas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Pythia-1B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✅ 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✅ 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OLMo-2-13B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❌ Immature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⚠️ Immature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K2-65B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rPr dirty="0"/>
                        <a:t>❌ Severely undertrained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Recommendations for Pretraining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611109"/>
            <a:ext cx="33149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Actionable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4109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73152"/>
          </a:xfrm>
          <a:prstGeom prst="roundRect">
            <a:avLst/>
          </a:prstGeom>
          <a:solidFill>
            <a:srgbClr val="1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Rec 1: Avoid Cosine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Cosine </a:t>
            </a:r>
            <a:r>
              <a:rPr dirty="0" err="1"/>
              <a:t>decays LR too early</a:t>
            </a:r>
            <a:r>
              <a:rPr dirty="0"/>
              <a:t> </a:t>
            </a:r>
            <a:r>
              <a:rPr dirty="0" err="1"/>
              <a:t>, wasting the "structural formation golden period</a:t>
            </a:r>
            <a:r>
              <a:rPr dirty="0"/>
              <a:t>".</a:t>
            </a:r>
            <a:endParaRPr lang="en-US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WSD </a:t>
            </a:r>
            <a:r>
              <a:rPr dirty="0" err="1"/>
              <a:t>or</a:t>
            </a:r>
            <a:r>
              <a:rPr dirty="0"/>
              <a:t> α-Guided </a:t>
            </a:r>
            <a:r>
              <a:rPr dirty="0" err="1"/>
              <a:t>keeps high</a:t>
            </a:r>
            <a:r>
              <a:rPr dirty="0"/>
              <a:t> LR </a:t>
            </a:r>
            <a:r>
              <a:rPr dirty="0" err="1"/>
              <a:t>until</a:t>
            </a:r>
            <a:r>
              <a:rPr dirty="0"/>
              <a:t> 74-83%</a:t>
            </a:r>
            <a:br>
              <a:rPr dirty="0"/>
            </a:br>
            <a:r>
              <a:rPr dirty="0"/>
              <a:t>→ benchmark +2-2.6%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474720" cy="24109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474720" cy="73152"/>
          </a:xfrm>
          <a:prstGeom prst="roundRect">
            <a:avLst/>
          </a:prstGeom>
          <a:solidFill>
            <a:srgbClr val="8B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8B2C3A"/>
                </a:solidFill>
                <a:latin typeface="Microsoft YaHei"/>
              </a:defRPr>
            </a:pPr>
            <a:r>
              <a:t>Rec 2: Train Far Beyond Chinchilla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10896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Structural maturity requires</a:t>
            </a:r>
            <a:r>
              <a:rPr dirty="0"/>
              <a:t> 15-25× Chinchilla </a:t>
            </a:r>
            <a:r>
              <a:rPr dirty="0" err="1"/>
              <a:t>recommended amount</a:t>
            </a:r>
            <a:br>
              <a:rPr dirty="0"/>
            </a:br>
            <a:br>
              <a:rPr dirty="0"/>
            </a:br>
            <a:r>
              <a:rPr dirty="0"/>
              <a:t>1B: ~300B tokens</a:t>
            </a:r>
            <a:br>
              <a:rPr dirty="0"/>
            </a:br>
            <a:r>
              <a:rPr dirty="0"/>
              <a:t>7B: ~3.5T tokens</a:t>
            </a:r>
            <a:br>
              <a:rPr dirty="0"/>
            </a:br>
            <a:r>
              <a:rPr dirty="0"/>
              <a:t>13B: </a:t>
            </a:r>
            <a:r>
              <a:rPr dirty="0" err="1"/>
              <a:t>far beyond</a:t>
            </a:r>
            <a:r>
              <a:rPr dirty="0"/>
              <a:t> 5T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3474720" cy="24109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1554480"/>
            <a:ext cx="3474720" cy="73152"/>
          </a:xfrm>
          <a:prstGeom prst="roundRect">
            <a:avLst/>
          </a:prstGeom>
          <a:solidFill>
            <a:srgbClr val="1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Rec 3: Focus on MLP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86000"/>
            <a:ext cx="310896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In large models, Attn is structured,</a:t>
            </a:r>
            <a:br>
              <a:rPr dirty="0"/>
            </a:br>
            <a:r>
              <a:rPr dirty="0"/>
              <a:t>MLP is the bottleneck (gap up to 5.4)</a:t>
            </a:r>
            <a:br>
              <a:rPr dirty="0"/>
            </a:br>
            <a:br>
              <a:rPr dirty="0"/>
            </a:br>
            <a:r>
              <a:rPr dirty="0"/>
              <a:t>→ Wider FFN / </a:t>
            </a:r>
            <a:r>
              <a:rPr dirty="0" err="1"/>
              <a:t>MoE</a:t>
            </a:r>
            <a:r>
              <a:rPr dirty="0"/>
              <a:t> to increase MLP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5464" y="5253472"/>
            <a:ext cx="7561454" cy="842527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5211" y="5423384"/>
            <a:ext cx="691899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rPr dirty="0" err="1"/>
              <a:t>Summary</a:t>
            </a:r>
            <a:r>
              <a:rPr dirty="0"/>
              <a:t>: </a:t>
            </a:r>
            <a:r>
              <a:rPr dirty="0" err="1"/>
              <a:t>Pre-release</a:t>
            </a:r>
            <a:r>
              <a:rPr dirty="0"/>
              <a:t> 5-</a:t>
            </a:r>
            <a:r>
              <a:rPr dirty="0" err="1"/>
              <a:t>min spectral check</a:t>
            </a:r>
            <a:r>
              <a:rPr dirty="0"/>
              <a:t> — SR/d </a:t>
            </a:r>
            <a:r>
              <a:rPr dirty="0" err="1"/>
              <a:t>close to</a:t>
            </a:r>
            <a:r>
              <a:rPr dirty="0"/>
              <a:t> 0.040 + 0.61/√d </a:t>
            </a:r>
            <a:r>
              <a:rPr dirty="0" err="1"/>
              <a:t>and</a:t>
            </a:r>
            <a:r>
              <a:rPr dirty="0"/>
              <a:t> α &lt; 4 → </a:t>
            </a:r>
            <a:r>
              <a:rPr dirty="0" err="1"/>
              <a:t>well trained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50859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Comparison with Existing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7255" y="640080"/>
            <a:ext cx="3373821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1A4F8B"/>
                </a:solidFill>
                <a:latin typeface="Microsoft YaHei"/>
              </a:defRPr>
            </a:pPr>
            <a:r>
              <a:t>Comparison with Existing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374687"/>
              </p:ext>
            </p:extLst>
          </p:nvPr>
        </p:nvGraphicFramePr>
        <p:xfrm>
          <a:off x="731520" y="1463040"/>
          <a:ext cx="10515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WeightWatcher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Scaling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Real-time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 (post-hoc)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Cross-model comparable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Detect structural degradation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 (α reversal)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Predict downstream perf.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Partial (r~0.7)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Loss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ρ=-0.90, R²=0.84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Guide training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Data amount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 (+2.56% @1B)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rPr dirty="0"/>
                        <a:t>&lt;0.05% 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19" y="6035040"/>
            <a:ext cx="9284839" cy="579646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9" y="6126480"/>
            <a:ext cx="898634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rPr dirty="0"/>
              <a:t>First to upgrade post-hoc spectral analysis into a real-time training guidance tool, surpassing all baselines in prediction accuracy and actionability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Theoretical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Theoretical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Information-Theoretic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SR(W) = exp(H₂) = 1 / Σ pᵢ²</a:t>
            </a:r>
            <a:br/>
            <a:r>
              <a:t>where pᵢ = σᵢ² / ||W||²F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SNR Explanation of α Reversal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02920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SNR(t) = ||E[∇L]||² / Var[∇L]</a:t>
            </a:r>
            <a:br/>
            <a:r>
              <a:t>α reversal ⟺ SNR(t)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Reducing η makes noise ∝ η² ↓ → restores SNR &gt;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Wedin Subspace Stability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||sinΘ(Uk, U'k)|| ≤ η·||∇L|| / γk(W)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α-guided reduces η when γk shrinks → minimizes subspace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Langevin Dynamics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0292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1F2D3D"/>
                </a:solidFill>
                <a:latin typeface="Consolas"/>
              </a:defRPr>
            </a:pPr>
            <a:r>
              <a:t>SGD = gradient descent + effective temperature diffusion:</a:t>
            </a:r>
            <a:br/>
            <a:r>
              <a:t>dσᵢ = -η ∂L/∂σᵢ dt + √(2ηTeff) dBᵢ</a:t>
            </a:r>
            <a:br/>
            <a:r>
              <a:t>Higher Teff → spectrum blurs → α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Summary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21154" y="580171"/>
            <a:ext cx="1272012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Four Levels of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093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Descriptive: SR/d universal convergence + α reversal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Predictive: Predicts 84% downstream variance from weights alone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Prescriptive: α-guided +2.56% @ 1B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Diagnostic: 5 min post-hoc model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502920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66344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Microsoft YaHei"/>
              </a:defRPr>
            </a:pPr>
            <a:r>
              <a:rPr sz="1400"/>
              <a:t>Scientific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4572000" cy="10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Universal compression law</a:t>
            </a:r>
            <a:r>
              <a:rPr dirty="0"/>
              <a:t>: ΔH₂ ≈ -2 </a:t>
            </a:r>
            <a:r>
              <a:rPr dirty="0" err="1"/>
              <a:t>nats</a:t>
            </a:r>
            <a:endParaRPr dirty="0"/>
          </a:p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Structural phase transition</a:t>
            </a:r>
            <a:r>
              <a:rPr dirty="0"/>
              <a:t>: N ≈ 1.7B </a:t>
            </a:r>
            <a:r>
              <a:rPr dirty="0" err="1"/>
              <a:t>threshold</a:t>
            </a:r>
            <a:endParaRPr dirty="0"/>
          </a:p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Loss ≠ Quality </a:t>
            </a:r>
            <a:r>
              <a:rPr dirty="0" err="1"/>
              <a:t>direct evidence</a:t>
            </a:r>
            <a:endParaRPr dirty="0"/>
          </a:p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SR = exp(H₂) </a:t>
            </a:r>
            <a:r>
              <a:rPr dirty="0" err="1"/>
              <a:t>rigorous bridge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614160" y="200816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4160" y="214532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4160" y="273968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4480" y="200816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74480" y="214532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4480" y="273968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Architectures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4160" y="365408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4160" y="379124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~340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160" y="43856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Checkpoints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4480" y="365408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4480" y="379124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930×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4480" y="43856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Scale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8E9CAD"/>
                </a:solidFill>
                <a:latin typeface="Microsoft YaHei"/>
              </a:defRPr>
            </a:pPr>
            <a:r>
              <a:t>Beyond Loss Curves: Spectral Monitoring for LLM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8E9CAD"/>
                </a:solidFill>
                <a:latin typeface="Microsoft YaHei"/>
              </a:defRPr>
            </a:pPr>
            <a:r>
              <a:t>From weight matrix spectra alone: diagnose training health, predict downstream performance, </a:t>
            </a:r>
            <a:br/>
            <a:r>
              <a:t>guide LR decisions—at &lt;0.05% training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sz="1400" b="0">
                <a:solidFill>
                  <a:srgbClr val="6B7B8D"/>
                </a:solidFill>
                <a:latin typeface="Consolas"/>
              </a:rPr>
              <a:t>PART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MoE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C4D0"/>
                </a:solidFill>
                <a:latin typeface="Microsoft YaHei"/>
              </a:rPr>
              <a:t>Do the Spectral Laws Hold for Mixture-of-Experts?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MoE Extension: 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OLMoE-1B-7B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F8B"/>
                </a:solidFill>
                <a:latin typeface="Microsoft YaHe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0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 spectral laws (SR/$d$, 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α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) are validated. </a:t>
            </a:r>
          </a:p>
          <a:p>
            <a:pPr algn="l" marL="285750" indent="-285750">
              <a:lnSpc>
                <a:spcPts val="20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Do they transfer to sparse experts, where each token sees only top-k of N experts?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150876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Model: </a:t>
            </a:r>
            <a:r>
              <a:rPr sz="1300" b="0">
                <a:solidFill>
                  <a:srgbClr val="4A5A6B"/>
                </a:solidFill>
                <a:latin typeface="Consolas"/>
              </a:rPr>
              <a:t>allenai/OLMoE-1B-7B-0924</a:t>
            </a:r>
          </a:p>
          <a:p>
            <a:pPr algn="l">
              <a:lnSpc>
                <a:spcPts val="1900"/>
              </a:lnSpc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6.9B total · 1.3B active · 64 experts · top-8</a:t>
            </a:r>
          </a:p>
          <a:p>
            <a:pPr algn="l">
              <a:lnSpc>
                <a:spcPts val="1900"/>
              </a:lnSpc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d=2048 · intermediate=1024 · 16 MoE layers</a:t>
            </a:r>
          </a:p>
          <a:p>
            <a:pPr algn="l">
              <a:lnSpc>
                <a:spcPts val="1900"/>
              </a:lnSpc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10 checkpoints, step 5K → 1.22M (≈1.2T tokens)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F8B"/>
                </a:solidFill>
                <a:latin typeface="Microsoft YaHei"/>
              </a:rPr>
              <a:t>What we 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3036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1900"/>
              </a:lnSpc>
              <a:buFont typeface="Arial"/>
              <a:buChar char="•"/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Per-expert </a:t>
            </a:r>
            <a:r>
              <a:rPr sz="1250" b="1">
                <a:solidFill>
                  <a:srgbClr val="1F2D3D"/>
                </a:solidFill>
                <a:latin typeface="Microsoft YaHei"/>
              </a:rPr>
              <a:t>α</a:t>
            </a:r>
            <a:r>
              <a:rPr sz="1250" b="0">
                <a:solidFill>
                  <a:srgbClr val="4A5A6B"/>
                </a:solidFill>
                <a:latin typeface="Microsoft YaHei"/>
              </a:rPr>
              <a:t> &amp; SR/$d$ · Router SR/$d$ · EPR (energy</a:t>
            </a:r>
          </a:p>
          <a:p>
            <a:pPr algn="l" marL="285750" indent="-285750">
              <a:lnSpc>
                <a:spcPts val="1900"/>
              </a:lnSpc>
              <a:buFont typeface="Arial"/>
              <a:buChar char="•"/>
            </a:pPr>
            <a:r>
              <a:rPr sz="1250" b="0">
                <a:solidFill>
                  <a:srgbClr val="4A5A6B"/>
                </a:solidFill>
                <a:latin typeface="Microsoft YaHei"/>
              </a:rPr>
              <a:t>equipartition) · </a:t>
            </a:r>
            <a:r>
              <a:rPr sz="1250" b="1">
                <a:solidFill>
                  <a:srgbClr val="1F2D3D"/>
                </a:solidFill>
                <a:latin typeface="Microsoft YaHei"/>
              </a:rPr>
              <a:t>ψ</a:t>
            </a:r>
            <a:r>
              <a:rPr sz="1250" b="0">
                <a:solidFill>
                  <a:srgbClr val="4A5A6B"/>
                </a:solidFill>
                <a:latin typeface="Microsoft YaHei"/>
              </a:rPr>
              <a:t> order parameter · cross-expert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F8B"/>
                </a:solidFill>
                <a:latin typeface="Microsoft YaHei"/>
              </a:rPr>
              <a:t>Phased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Phase 0 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0370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OLMoE loads, fused-expert tensors handled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Consolas"/>
              </a:rPr>
              <a:t>✓ 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16936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990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Phase 1  Training dynamics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10 checkpoints measured (57 min, CPU)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008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Consolas"/>
              </a:rPr>
              <a:t>✓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50791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239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Phase 2  Cross-model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7141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Mixtral + Phi-3.5-MoE: α scales with expert width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1422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D6A4F"/>
                </a:solidFill>
                <a:latin typeface="Consolas"/>
              </a:rPr>
              <a:t>✓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184648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D3D"/>
                </a:solidFill>
                <a:latin typeface="Microsoft YaHei"/>
              </a:rPr>
              <a:t>Phase 3 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60527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>
                <a:solidFill>
                  <a:srgbClr val="4A5A6B"/>
                </a:solidFill>
                <a:latin typeface="Microsoft YaHei"/>
              </a:rPr>
              <a:t>Shared vs routed experts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276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7B8D"/>
                </a:solidFill>
                <a:latin typeface="Consolas"/>
              </a:rPr>
              <a:t>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A: MoE α Never Reverses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Structural Stability</a:t>
            </a:r>
          </a:p>
        </p:txBody>
      </p:sp>
      <p:pic>
        <p:nvPicPr>
          <p:cNvPr id="4" name="Picture 3" descr="moe_fig1_alpha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554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Expert α stays at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1.44–1.46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for the entire run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Δα = +0.3% over 1.2M steps —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no phase transition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 models reverse (OLMo-2-13B: Δα=+2.71);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MoE experts are born in the Lévy regime (α&lt;2)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MoE experts are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“born solid”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: structure is fixed at init,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training only rotates it — α-reversal early warning does not apply.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B: SR/d Obeys the Dense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Cross-Architecture Universality</a:t>
            </a:r>
          </a:p>
        </p:txBody>
      </p:sp>
      <p:pic>
        <p:nvPicPr>
          <p:cNvPr id="4" name="Picture 3" descr="moe_fig2_sr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0.040 + 0.61/√d = 0.0535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Per-expert SR/$d$ converges to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0.052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within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2.3%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of the Dense prediction (d=2048)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Two phases: compression (→410K) then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specialization (slow decline + rising spread)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The universal compression law is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architecture-agnostic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 —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it holds per-expert, not just for dense matrices.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C: EPR &amp; ψ Track Specialization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Two-Phase Dynamics</a:t>
            </a:r>
          </a:p>
        </p:txBody>
      </p:sp>
      <p:pic>
        <p:nvPicPr>
          <p:cNvPr id="4" name="Picture 3" descr="moe_fig3_two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554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EPR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U-curve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: equilibration → specialization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ψ rises +15%: experts sharpen their main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singular direction (functional specialization)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Router SR/$d$ frozen from step 5K — routing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geometry fixed extremely early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With α flat,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EPR is the sensitive health signal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for MoE — monitor it, not α, for expert collapse.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D: MoE vs Dense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Summary of Differences</a:t>
            </a:r>
          </a:p>
        </p:txBody>
      </p:sp>
      <p:pic>
        <p:nvPicPr>
          <p:cNvPr id="4" name="Picture 3" descr="moe_fig4_moe_vs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554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Dense: α drops 6.5→3.2 then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reverses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MoE: α flat at 1.46 (below Lévy α=2)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Dynamic range: α 0.3% · SR/$d$ 12% ·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EPR 76%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First per-expert α measurement reported —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fills a clear gap in the HT-SR 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MoE training is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a different regime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: no relaxation,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ballistic SR/d convergence (β=1.85), info-bottleneck 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E: Expert Width Sets the α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Phase 2 · Cross-Model</a:t>
            </a:r>
          </a:p>
        </p:txBody>
      </p:sp>
      <p:pic>
        <p:nvPicPr>
          <p:cNvPr id="4" name="Picture 3" descr="moe_fig5_alpha_vs_exper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int 1024 → 6400 → 14336  ⇒  α 1.46 → 3.03 → 4.00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Three models form a clean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monotone staircase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OLMoE int=1024 → </a:t>
            </a:r>
            <a:r>
              <a:rPr sz="1300" b="1">
                <a:solidFill>
                  <a:srgbClr val="1A4F8B"/>
                </a:solidFill>
                <a:latin typeface="Microsoft YaHei"/>
              </a:rPr>
              <a:t>α=1.46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 (Lévy)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Phi-3.5 int=6400 → </a:t>
            </a:r>
            <a:r>
              <a:rPr sz="1300" b="1">
                <a:solidFill>
                  <a:srgbClr val="C8841A"/>
                </a:solidFill>
                <a:latin typeface="Microsoft YaHei"/>
              </a:rPr>
              <a:t>α=3.03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 (transition)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Mixtral int=14336 →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α=4.00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 (Dense-like)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Set by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per-expert width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, not total model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α&lt;2 in MoE is an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information-bottleneck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 effect,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not over-fitting — narrow experts force a heavy 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F: Same Ordering, Lévy-Shifted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Per-Layer Breakdown</a:t>
            </a:r>
          </a:p>
        </p:txBody>
      </p:sp>
      <p:pic>
        <p:nvPicPr>
          <p:cNvPr id="4" name="Picture 3" descr="dense_vs_moe_attn_f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FFN &gt; attn in BOTH;  gap Δα 1.26 → 0.41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Ordering is preserved: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FFN α &gt; attn α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in both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(dense MLP 3.34 &gt; attn 2.08; MoE 1.62 &gt; 1.21)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But MoE pushes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every component below α=2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and shrinks the attn–FFN gap (1.26 → 0.41)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Within attn: q/k (α≈1.1) &lt; v/o (α≈1.27)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MoE doesn’t reverse the hierarchy — it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compresses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everything into the heavy-tailed Lévy regime.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G: Fewer Experts, More Specialized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Per-Expert Divergence</a:t>
            </a:r>
          </a:p>
        </p:txBody>
      </p:sp>
      <p:pic>
        <p:nvPicPr>
          <p:cNvPr id="4" name="Picture 3" descr="moe_sprea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OLMoE σ(α)=0.02   vs   Mixtral σ(α)=0.85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OLMoE (64 experts): experts </a:t>
            </a:r>
            <a:r>
              <a:rPr sz="1300" b="1">
                <a:solidFill>
                  <a:srgbClr val="1A4F8B"/>
                </a:solidFill>
                <a:latin typeface="Microsoft YaHei"/>
              </a:rPr>
              <a:t>near-identical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spectra — fine-grained MoE homogenizes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Mixtral (8 experts): α spans 2.5–6.5 —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coarse MoE drives strong specialization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Mixtral FFN α rises with depth (→6), like dense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Expert granularity is a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specialization knob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: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few wide experts diverge, many narrow ones converge.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F2D3D"/>
                </a:solidFill>
                <a:latin typeface="Microsoft YaHei"/>
              </a:rPr>
              <a:t>Finding H: Width Sets the α Regime — Universally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03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4F8B"/>
                </a:solidFill>
                <a:latin typeface="Microsoft YaHei"/>
              </a:rPr>
              <a:t>Dense + MoE Unified</a:t>
            </a:r>
          </a:p>
        </p:txBody>
      </p:sp>
      <p:pic>
        <p:nvPicPr>
          <p:cNvPr id="4" name="Picture 3" descr="unified_alpha_vs_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2648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087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onsolas"/>
              </a:rPr>
              <a:t>narrow matrix → Lévy (α&lt;2)   ·   wide matrix → α 4–5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Same trend in </a:t>
            </a:r>
            <a:r>
              <a:rPr sz="1300" b="1">
                <a:solidFill>
                  <a:srgbClr val="1F2D3D"/>
                </a:solidFill>
                <a:latin typeface="Microsoft YaHei"/>
              </a:rPr>
              <a:t>both families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: wider → higher α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Dense Pythia: hidden 512→4096 ⇒ attn α 1.6→5.2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MoE: expert int 1024→14336 ⇒ α 1.46→4.00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α&lt;2 is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not MoE-specific</a:t>
            </a:r>
            <a:r>
              <a:rPr sz="1300" b="0">
                <a:solidFill>
                  <a:srgbClr val="4A5A6B"/>
                </a:solidFill>
                <a:latin typeface="Microsoft YaHei"/>
              </a:rPr>
              <a:t> — small dense</a:t>
            </a:r>
          </a:p>
          <a:p>
            <a:pPr algn="l" marL="285750" indent="-285750">
              <a:lnSpc>
                <a:spcPts val="2100"/>
              </a:lnSpc>
              <a:buFont typeface="Arial"/>
              <a:buChar char="•"/>
            </a:pPr>
            <a:r>
              <a:rPr sz="1300" b="0">
                <a:solidFill>
                  <a:srgbClr val="4A5A6B"/>
                </a:solidFill>
                <a:latin typeface="Microsoft YaHei"/>
              </a:rPr>
              <a:t>models’ attention is heavy-tailed too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48463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The α regime is set by </a:t>
            </a:r>
            <a:r>
              <a:rPr sz="1300" b="1">
                <a:solidFill>
                  <a:srgbClr val="2D6A4F"/>
                </a:solidFill>
                <a:latin typeface="Microsoft YaHei"/>
              </a:rPr>
              <a:t>per-matrix width</a:t>
            </a:r>
            <a:r>
              <a:rPr sz="1300" b="0">
                <a:solidFill>
                  <a:srgbClr val="1F2D3D"/>
                </a:solidFill>
                <a:latin typeface="Microsoft YaHei"/>
              </a:rPr>
              <a:t>,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not by MoE vs dense — a single unifying knob.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  <a:latin typeface="Consolas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1991</Words>
  <Application>Microsoft Macintosh PowerPoint</Application>
  <PresentationFormat>Widescreen</PresentationFormat>
  <Paragraphs>404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Jiaqi Liu</cp:lastModifiedBy>
  <cp:revision>78</cp:revision>
  <dcterms:created xsi:type="dcterms:W3CDTF">2013-01-27T09:14:16Z</dcterms:created>
  <dcterms:modified xsi:type="dcterms:W3CDTF">2026-05-27T20:04:25Z</dcterms:modified>
  <cp:category/>
</cp:coreProperties>
</file>