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5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0"/>
              </a:lnSpc>
            </a:pPr>
            <a:r>
              <a:rPr sz="1400" b="0">
                <a:solidFill>
                  <a:srgbClr val="6B7B8D"/>
                </a:solidFill>
                <a:latin typeface="Microsoft YaHei"/>
              </a:rPr>
              <a:t>第五部分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200"/>
              </a:lnSpc>
            </a:pPr>
            <a:r>
              <a:rPr sz="4400" b="1">
                <a:solidFill>
                  <a:srgbClr val="FFFFFF"/>
                </a:solidFill>
                <a:latin typeface="Microsoft YaHei"/>
              </a:rPr>
              <a:t>MoE 架构扩展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02336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B8C4D0"/>
                </a:solidFill>
                <a:latin typeface="Microsoft YaHei"/>
              </a:rPr>
              <a:t>谱学定律在混合专家（MoE）架构上是否依然成立？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B8D"/>
                </a:solidFill>
                <a:latin typeface="Consolas"/>
              </a:rPr>
              <a:t>01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8778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>
                <a:solidFill>
                  <a:srgbClr val="1F2D3D"/>
                </a:solidFill>
                <a:latin typeface="Microsoft YaHei"/>
              </a:rPr>
              <a:t>MoE 扩展：实验设计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63840" y="603504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1A4F8B"/>
                </a:solidFill>
                <a:latin typeface="Microsoft YaHei"/>
              </a:rPr>
              <a:t>OLMoE-1B-7B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4F8B"/>
                </a:solidFill>
                <a:latin typeface="Microsoft YaHei"/>
              </a:rPr>
              <a:t>研究动机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85750" indent="-285750">
              <a:lnSpc>
                <a:spcPts val="2000"/>
              </a:lnSpc>
              <a:buFont typeface="Arial"/>
              <a:buChar char="•"/>
            </a:pPr>
            <a:r>
              <a:rPr sz="1300" b="0">
                <a:solidFill>
                  <a:srgbClr val="4A5A6B"/>
                </a:solidFill>
                <a:latin typeface="Microsoft YaHei"/>
              </a:rPr>
              <a:t>Dense 模型的谱学定律（SR/$d$、</a:t>
            </a:r>
            <a:r>
              <a:rPr sz="1300" b="0">
                <a:solidFill>
                  <a:srgbClr val="4A5A6B"/>
                </a:solidFill>
                <a:latin typeface="Microsoft YaHei"/>
              </a:rPr>
              <a:t>α</a:t>
            </a:r>
            <a:r>
              <a:rPr sz="1300" b="0">
                <a:solidFill>
                  <a:srgbClr val="4A5A6B"/>
                </a:solidFill>
                <a:latin typeface="Microsoft YaHei"/>
              </a:rPr>
              <a:t>）已被验证。</a:t>
            </a:r>
          </a:p>
          <a:p>
            <a:pPr algn="l" marL="285750" indent="-285750">
              <a:lnSpc>
                <a:spcPts val="2000"/>
              </a:lnSpc>
              <a:buFont typeface="Arial"/>
              <a:buChar char="•"/>
            </a:pPr>
            <a:r>
              <a:rPr sz="1300" b="0">
                <a:solidFill>
                  <a:srgbClr val="4A5A6B"/>
                </a:solidFill>
                <a:latin typeface="Microsoft YaHei"/>
              </a:rPr>
              <a:t>它们能否迁移到稀疏专家上？——每个 token 仅经过 N 个专家中的 top-k 个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08960"/>
            <a:ext cx="5120640" cy="1508760"/>
          </a:xfrm>
          <a:prstGeom prst="roundRect">
            <a:avLst>
              <a:gd name="adj" fmla="val 8000"/>
            </a:avLst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24612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</a:pPr>
            <a:r>
              <a:rPr sz="1300" b="1">
                <a:solidFill>
                  <a:srgbClr val="1F2D3D"/>
                </a:solidFill>
                <a:latin typeface="Microsoft YaHei"/>
              </a:rPr>
              <a:t>模型：</a:t>
            </a:r>
            <a:r>
              <a:rPr sz="1300" b="0">
                <a:solidFill>
                  <a:srgbClr val="4A5A6B"/>
                </a:solidFill>
                <a:latin typeface="Consolas"/>
              </a:rPr>
              <a:t>allenai/OLMoE-1B-7B-0924</a:t>
            </a:r>
          </a:p>
          <a:p>
            <a:pPr algn="l">
              <a:lnSpc>
                <a:spcPts val="1900"/>
              </a:lnSpc>
            </a:pPr>
            <a:r>
              <a:rPr sz="1250" b="0">
                <a:solidFill>
                  <a:srgbClr val="4A5A6B"/>
                </a:solidFill>
                <a:latin typeface="Microsoft YaHei"/>
              </a:rPr>
              <a:t>总参数 6.9B · 激活 1.3B · 64 专家 · top-8</a:t>
            </a:r>
          </a:p>
          <a:p>
            <a:pPr algn="l">
              <a:lnSpc>
                <a:spcPts val="1900"/>
              </a:lnSpc>
            </a:pPr>
            <a:r>
              <a:rPr sz="1250" b="0">
                <a:solidFill>
                  <a:srgbClr val="4A5A6B"/>
                </a:solidFill>
                <a:latin typeface="Microsoft YaHei"/>
              </a:rPr>
              <a:t>d=2048 · intermediate=1024 · 16 个 MoE 层</a:t>
            </a:r>
          </a:p>
          <a:p>
            <a:pPr algn="l">
              <a:lnSpc>
                <a:spcPts val="1900"/>
              </a:lnSpc>
            </a:pPr>
            <a:r>
              <a:rPr sz="1250" b="0">
                <a:solidFill>
                  <a:srgbClr val="4A5A6B"/>
                </a:solidFill>
                <a:latin typeface="Microsoft YaHei"/>
              </a:rPr>
              <a:t>10 个 checkpoint，step 5K → 1.22M（约 1.2T tokens）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006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4F8B"/>
                </a:solidFill>
                <a:latin typeface="Microsoft YaHei"/>
              </a:rPr>
              <a:t>测量指标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230368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85750" indent="-285750">
              <a:lnSpc>
                <a:spcPts val="1900"/>
              </a:lnSpc>
              <a:buFont typeface="Arial"/>
              <a:buChar char="•"/>
            </a:pPr>
            <a:r>
              <a:rPr sz="1250" b="0">
                <a:solidFill>
                  <a:srgbClr val="4A5A6B"/>
                </a:solidFill>
                <a:latin typeface="Microsoft YaHei"/>
              </a:rPr>
              <a:t>逐专家 </a:t>
            </a:r>
            <a:r>
              <a:rPr sz="1250" b="1">
                <a:solidFill>
                  <a:srgbClr val="1F2D3D"/>
                </a:solidFill>
                <a:latin typeface="Microsoft YaHei"/>
              </a:rPr>
              <a:t>α</a:t>
            </a:r>
            <a:r>
              <a:rPr sz="1250" b="0">
                <a:solidFill>
                  <a:srgbClr val="4A5A6B"/>
                </a:solidFill>
                <a:latin typeface="Microsoft YaHei"/>
              </a:rPr>
              <a:t> 与 SR/$d$ · 路由 SR/$d$ · EPR（能量均分）</a:t>
            </a:r>
          </a:p>
          <a:p>
            <a:pPr algn="l" marL="285750" indent="-285750">
              <a:lnSpc>
                <a:spcPts val="1900"/>
              </a:lnSpc>
              <a:buFont typeface="Arial"/>
              <a:buChar char="•"/>
            </a:pPr>
            <a:r>
              <a:rPr sz="1250" b="0">
                <a:solidFill>
                  <a:srgbClr val="4A5A6B"/>
                </a:solidFill>
                <a:latin typeface="Microsoft YaHei"/>
              </a:rPr>
              <a:t>· 序参数 </a:t>
            </a:r>
            <a:r>
              <a:rPr sz="1250" b="1">
                <a:solidFill>
                  <a:srgbClr val="1F2D3D"/>
                </a:solidFill>
                <a:latin typeface="Microsoft YaHei"/>
              </a:rPr>
              <a:t>ψ</a:t>
            </a:r>
            <a:r>
              <a:rPr sz="1250" b="0">
                <a:solidFill>
                  <a:srgbClr val="4A5A6B"/>
                </a:solidFill>
                <a:latin typeface="Microsoft YaHei"/>
              </a:rPr>
              <a:t> · 跨专家对齐度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3258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4F8B"/>
                </a:solidFill>
                <a:latin typeface="Microsoft YaHei"/>
              </a:rPr>
              <a:t>分阶段路线图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783080"/>
            <a:ext cx="5212080" cy="1024128"/>
          </a:xfrm>
          <a:prstGeom prst="roundRect">
            <a:avLst>
              <a:gd name="adj" fmla="val 8000"/>
            </a:avLst>
          </a:prstGeom>
          <a:solidFill>
            <a:srgbClr val="E6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856231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F2D3D"/>
                </a:solidFill>
                <a:latin typeface="Microsoft YaHei"/>
              </a:rPr>
              <a:t>阶段 0  概念验证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203704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</a:pPr>
            <a:r>
              <a:rPr sz="1150" b="0">
                <a:solidFill>
                  <a:srgbClr val="4A5A6B"/>
                </a:solidFill>
                <a:latin typeface="Microsoft YaHei"/>
              </a:rPr>
              <a:t>OLMoE 成功加载，处理 fused 专家张量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187451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2D6A4F"/>
                </a:solidFill>
                <a:latin typeface="Microsoft YaHei"/>
              </a:rPr>
              <a:t>✓ 已完成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2916936"/>
            <a:ext cx="5212080" cy="1024128"/>
          </a:xfrm>
          <a:prstGeom prst="roundRect">
            <a:avLst>
              <a:gd name="adj" fmla="val 8000"/>
            </a:avLst>
          </a:prstGeom>
          <a:solidFill>
            <a:srgbClr val="E6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299008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F2D3D"/>
                </a:solidFill>
                <a:latin typeface="Microsoft YaHei"/>
              </a:rPr>
              <a:t>阶段 1  训练动力学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33756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</a:pPr>
            <a:r>
              <a:rPr sz="1150" b="0">
                <a:solidFill>
                  <a:srgbClr val="4A5A6B"/>
                </a:solidFill>
                <a:latin typeface="Microsoft YaHei"/>
              </a:rPr>
              <a:t>完成 10 个 checkpoint 测量（CPU，57 分钟）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300837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2D6A4F"/>
                </a:solidFill>
                <a:latin typeface="Microsoft YaHei"/>
              </a:rPr>
              <a:t>✓ 已完成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4050791"/>
            <a:ext cx="5212080" cy="1024128"/>
          </a:xfrm>
          <a:prstGeom prst="roundRect">
            <a:avLst>
              <a:gd name="adj" fmla="val 8000"/>
            </a:avLst>
          </a:prstGeom>
          <a:solidFill>
            <a:srgbClr val="E6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412394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F2D3D"/>
                </a:solidFill>
                <a:latin typeface="Microsoft YaHei"/>
              </a:rPr>
              <a:t>阶段 2  跨模型对比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471416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</a:pPr>
            <a:r>
              <a:rPr sz="1150" b="0">
                <a:solidFill>
                  <a:srgbClr val="4A5A6B"/>
                </a:solidFill>
                <a:latin typeface="Microsoft YaHei"/>
              </a:rPr>
              <a:t>Mixtral + Phi-3.5-MoE：α 随专家宽度递增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4142231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2D6A4F"/>
                </a:solidFill>
                <a:latin typeface="Microsoft YaHei"/>
              </a:rPr>
              <a:t>✓ 已完成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5184648"/>
            <a:ext cx="5212080" cy="1024128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257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F2D3D"/>
                </a:solidFill>
                <a:latin typeface="Microsoft YaHei"/>
              </a:rPr>
              <a:t>阶段 3  架构对比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5605272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</a:pPr>
            <a:r>
              <a:rPr sz="1150" b="0">
                <a:solidFill>
                  <a:srgbClr val="4A5A6B"/>
                </a:solidFill>
                <a:latin typeface="Microsoft YaHei"/>
              </a:rPr>
              <a:t>共享专家 vs 纯路由专家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527608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B7B8D"/>
                </a:solidFill>
                <a:latin typeface="Microsoft YaHei"/>
              </a:rPr>
              <a:t>计划中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B8D"/>
                </a:solidFill>
                <a:latin typeface="Consolas"/>
              </a:rP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8778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>
                <a:solidFill>
                  <a:srgbClr val="1F2D3D"/>
                </a:solidFill>
                <a:latin typeface="Microsoft YaHei"/>
              </a:rPr>
              <a:t>发现 A：MoE 的 α 从不反转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63840" y="603504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1A4F8B"/>
                </a:solidFill>
                <a:latin typeface="Microsoft YaHei"/>
              </a:rPr>
              <a:t>结构稳定性</a:t>
            </a:r>
          </a:p>
        </p:txBody>
      </p:sp>
      <p:pic>
        <p:nvPicPr>
          <p:cNvPr id="4" name="Picture 3" descr="moe_fig1_alpha_st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126480" cy="4251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0" y="1554480"/>
            <a:ext cx="4663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85750" indent="-285750">
              <a:lnSpc>
                <a:spcPts val="2100"/>
              </a:lnSpc>
              <a:buFont typeface="Arial"/>
              <a:buChar char="•"/>
            </a:pPr>
            <a:r>
              <a:rPr sz="1300" b="0">
                <a:solidFill>
                  <a:srgbClr val="4A5A6B"/>
                </a:solidFill>
                <a:latin typeface="Microsoft YaHei"/>
              </a:rPr>
              <a:t>专家 α 全程稳定在 </a:t>
            </a:r>
            <a:r>
              <a:rPr sz="1300" b="1">
                <a:solidFill>
                  <a:srgbClr val="1F2D3D"/>
                </a:solidFill>
                <a:latin typeface="Microsoft YaHei"/>
              </a:rPr>
              <a:t>1.44–1.46</a:t>
            </a:r>
          </a:p>
          <a:p>
            <a:pPr algn="l" marL="285750" indent="-285750">
              <a:lnSpc>
                <a:spcPts val="2100"/>
              </a:lnSpc>
              <a:buFont typeface="Arial"/>
              <a:buChar char="•"/>
            </a:pPr>
            <a:r>
              <a:rPr sz="1300" b="0">
                <a:solidFill>
                  <a:srgbClr val="4A5A6B"/>
                </a:solidFill>
                <a:latin typeface="Microsoft YaHei"/>
              </a:rPr>
              <a:t>120 万步内 Δα = +0.3% —— </a:t>
            </a:r>
            <a:r>
              <a:rPr sz="1300" b="1">
                <a:solidFill>
                  <a:srgbClr val="2D6A4F"/>
                </a:solidFill>
                <a:latin typeface="Microsoft YaHei"/>
              </a:rPr>
              <a:t>无相变</a:t>
            </a:r>
          </a:p>
          <a:p>
            <a:pPr algn="l" marL="285750" indent="-285750">
              <a:lnSpc>
                <a:spcPts val="2100"/>
              </a:lnSpc>
              <a:buFont typeface="Arial"/>
              <a:buChar char="•"/>
            </a:pPr>
            <a:r>
              <a:rPr sz="1300" b="0">
                <a:solidFill>
                  <a:srgbClr val="4A5A6B"/>
                </a:solidFill>
                <a:latin typeface="Microsoft YaHei"/>
              </a:rPr>
              <a:t>Dense 模型会反转（OLMo-2-13B：Δα=+2.71）</a:t>
            </a:r>
          </a:p>
          <a:p>
            <a:pPr algn="l" marL="285750" indent="-285750">
              <a:lnSpc>
                <a:spcPts val="2100"/>
              </a:lnSpc>
              <a:buFont typeface="Arial"/>
              <a:buChar char="•"/>
            </a:pPr>
            <a:r>
              <a:rPr sz="1300" b="0">
                <a:solidFill>
                  <a:srgbClr val="4A5A6B"/>
                </a:solidFill>
                <a:latin typeface="Microsoft YaHei"/>
              </a:rPr>
              <a:t>MoE 专家从初始化起就处于 Lévy 区间（α&lt;2）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4709160"/>
            <a:ext cx="4617720" cy="914400"/>
          </a:xfrm>
          <a:prstGeom prst="roundRect">
            <a:avLst>
              <a:gd name="adj" fmla="val 8000"/>
            </a:avLst>
          </a:prstGeom>
          <a:solidFill>
            <a:srgbClr val="E6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95160" y="4846320"/>
            <a:ext cx="4343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ts val="1800"/>
              </a:lnSpc>
            </a:pPr>
            <a:r>
              <a:rPr sz="1300" b="1">
                <a:solidFill>
                  <a:srgbClr val="2D6A4F"/>
                </a:solidFill>
                <a:latin typeface="Microsoft YaHei"/>
              </a:rPr>
              <a:t>MoE 专家“天生即固态”</a:t>
            </a:r>
            <a:r>
              <a:rPr sz="1300" b="0">
                <a:solidFill>
                  <a:srgbClr val="1F2D3D"/>
                </a:solidFill>
                <a:latin typeface="Microsoft YaHei"/>
              </a:rPr>
              <a:t>：结构在初始化时已确定，</a:t>
            </a:r>
          </a:p>
          <a:p>
            <a:pPr algn="l">
              <a:lnSpc>
                <a:spcPts val="1800"/>
              </a:lnSpc>
            </a:pPr>
            <a:r>
              <a:rPr sz="1300" b="0">
                <a:solidFill>
                  <a:srgbClr val="1F2D3D"/>
                </a:solidFill>
                <a:latin typeface="Microsoft YaHei"/>
              </a:rPr>
              <a:t>训练只是旋转方向 —— α 反转预警在此不适用。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B8D"/>
                </a:solidFill>
                <a:latin typeface="Consolas"/>
              </a:rP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8778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>
                <a:solidFill>
                  <a:srgbClr val="1F2D3D"/>
                </a:solidFill>
                <a:latin typeface="Microsoft YaHei"/>
              </a:rPr>
              <a:t>发现 B：SR/d 遵循 Dense 定律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63840" y="603504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1A4F8B"/>
                </a:solidFill>
                <a:latin typeface="Microsoft YaHei"/>
              </a:rPr>
              <a:t>跨架构普适性</a:t>
            </a:r>
          </a:p>
        </p:txBody>
      </p:sp>
      <p:pic>
        <p:nvPicPr>
          <p:cNvPr id="4" name="Picture 3" descr="moe_fig2_srd_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126480" cy="42519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858000" y="1508760"/>
            <a:ext cx="4572000" cy="73152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0" y="162763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F2D3D"/>
                </a:solidFill>
                <a:latin typeface="Consolas"/>
              </a:rPr>
              <a:t>0.040 + 0.61/√d = 0.0535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514600"/>
            <a:ext cx="4663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85750" indent="-285750">
              <a:lnSpc>
                <a:spcPts val="2100"/>
              </a:lnSpc>
              <a:buFont typeface="Arial"/>
              <a:buChar char="•"/>
            </a:pPr>
            <a:r>
              <a:rPr sz="1300" b="0">
                <a:solidFill>
                  <a:srgbClr val="4A5A6B"/>
                </a:solidFill>
                <a:latin typeface="Microsoft YaHei"/>
              </a:rPr>
              <a:t>逐专家 SR/$d$ 收敛到 </a:t>
            </a:r>
            <a:r>
              <a:rPr sz="1300" b="1">
                <a:solidFill>
                  <a:srgbClr val="1F2D3D"/>
                </a:solidFill>
                <a:latin typeface="Microsoft YaHei"/>
              </a:rPr>
              <a:t>0.052</a:t>
            </a:r>
          </a:p>
          <a:p>
            <a:pPr algn="l" marL="285750" indent="-285750">
              <a:lnSpc>
                <a:spcPts val="2100"/>
              </a:lnSpc>
              <a:buFont typeface="Arial"/>
              <a:buChar char="•"/>
            </a:pPr>
            <a:r>
              <a:rPr sz="1300" b="0">
                <a:solidFill>
                  <a:srgbClr val="4A5A6B"/>
                </a:solidFill>
                <a:latin typeface="Microsoft YaHei"/>
              </a:rPr>
              <a:t>与 Dense 预测值偏差仅 </a:t>
            </a:r>
            <a:r>
              <a:rPr sz="1300" b="1">
                <a:solidFill>
                  <a:srgbClr val="2D6A4F"/>
                </a:solidFill>
                <a:latin typeface="Microsoft YaHei"/>
              </a:rPr>
              <a:t>2.3%</a:t>
            </a:r>
            <a:r>
              <a:rPr sz="1300" b="0">
                <a:solidFill>
                  <a:srgbClr val="4A5A6B"/>
                </a:solidFill>
                <a:latin typeface="Microsoft YaHei"/>
              </a:rPr>
              <a:t>（d=2048）</a:t>
            </a:r>
          </a:p>
          <a:p>
            <a:pPr algn="l" marL="285750" indent="-285750">
              <a:lnSpc>
                <a:spcPts val="2100"/>
              </a:lnSpc>
              <a:buFont typeface="Arial"/>
              <a:buChar char="•"/>
            </a:pPr>
            <a:r>
              <a:rPr sz="1300" b="0">
                <a:solidFill>
                  <a:srgbClr val="4A5A6B"/>
                </a:solidFill>
                <a:latin typeface="Microsoft YaHei"/>
              </a:rPr>
              <a:t>两阶段：压缩期（→410K）后进入</a:t>
            </a:r>
          </a:p>
          <a:p>
            <a:pPr algn="l" marL="285750" indent="-285750">
              <a:lnSpc>
                <a:spcPts val="2100"/>
              </a:lnSpc>
              <a:buFont typeface="Arial"/>
              <a:buChar char="•"/>
            </a:pPr>
            <a:r>
              <a:rPr sz="1300" b="0">
                <a:solidFill>
                  <a:srgbClr val="4A5A6B"/>
                </a:solidFill>
                <a:latin typeface="Microsoft YaHei"/>
              </a:rPr>
              <a:t>特化期（缓慢下降 + 专家间分化加大）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4709160"/>
            <a:ext cx="4617720" cy="914400"/>
          </a:xfrm>
          <a:prstGeom prst="roundRect">
            <a:avLst>
              <a:gd name="adj" fmla="val 8000"/>
            </a:avLst>
          </a:prstGeom>
          <a:solidFill>
            <a:srgbClr val="E6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4846320"/>
            <a:ext cx="4343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ts val="1800"/>
              </a:lnSpc>
            </a:pPr>
            <a:r>
              <a:rPr sz="1300" b="0">
                <a:solidFill>
                  <a:srgbClr val="1F2D3D"/>
                </a:solidFill>
                <a:latin typeface="Microsoft YaHei"/>
              </a:rPr>
              <a:t>通用压缩定律是 </a:t>
            </a:r>
            <a:r>
              <a:rPr sz="1300" b="1">
                <a:solidFill>
                  <a:srgbClr val="2D6A4F"/>
                </a:solidFill>
                <a:latin typeface="Microsoft YaHei"/>
              </a:rPr>
              <a:t>跨架构成立的</a:t>
            </a:r>
            <a:r>
              <a:rPr sz="1300" b="0">
                <a:solidFill>
                  <a:srgbClr val="1F2D3D"/>
                </a:solidFill>
                <a:latin typeface="Microsoft YaHei"/>
              </a:rPr>
              <a:t>——</a:t>
            </a:r>
          </a:p>
          <a:p>
            <a:pPr algn="l">
              <a:lnSpc>
                <a:spcPts val="1800"/>
              </a:lnSpc>
            </a:pPr>
            <a:r>
              <a:rPr sz="1300" b="0">
                <a:solidFill>
                  <a:srgbClr val="1F2D3D"/>
                </a:solidFill>
                <a:latin typeface="Microsoft YaHei"/>
              </a:rPr>
              <a:t>它在逐专家层面成立，而不仅限于稠密矩阵。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B8D"/>
                </a:solidFill>
                <a:latin typeface="Consolas"/>
              </a:rP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8778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>
                <a:solidFill>
                  <a:srgbClr val="1F2D3D"/>
                </a:solidFill>
                <a:latin typeface="Microsoft YaHei"/>
              </a:rPr>
              <a:t>发现 C：EPR 与 ψ 刻画特化过程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63840" y="603504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1A4F8B"/>
                </a:solidFill>
                <a:latin typeface="Microsoft YaHei"/>
              </a:rPr>
              <a:t>两阶段动力学</a:t>
            </a:r>
          </a:p>
        </p:txBody>
      </p:sp>
      <p:pic>
        <p:nvPicPr>
          <p:cNvPr id="4" name="Picture 3" descr="moe_fig3_two_ph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126480" cy="4251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0" y="1554480"/>
            <a:ext cx="4663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85750" indent="-285750">
              <a:lnSpc>
                <a:spcPts val="2100"/>
              </a:lnSpc>
              <a:buFont typeface="Arial"/>
              <a:buChar char="•"/>
            </a:pPr>
            <a:r>
              <a:rPr sz="1300" b="0">
                <a:solidFill>
                  <a:srgbClr val="4A5A6B"/>
                </a:solidFill>
                <a:latin typeface="Microsoft YaHei"/>
              </a:rPr>
              <a:t>EPR 呈 </a:t>
            </a:r>
            <a:r>
              <a:rPr sz="1300" b="1">
                <a:solidFill>
                  <a:srgbClr val="2D6A4F"/>
                </a:solidFill>
                <a:latin typeface="Microsoft YaHei"/>
              </a:rPr>
              <a:t>U 型曲线</a:t>
            </a:r>
            <a:r>
              <a:rPr sz="1300" b="0">
                <a:solidFill>
                  <a:srgbClr val="4A5A6B"/>
                </a:solidFill>
                <a:latin typeface="Microsoft YaHei"/>
              </a:rPr>
              <a:t>：均衡化 → 特化</a:t>
            </a:r>
          </a:p>
          <a:p>
            <a:pPr algn="l" marL="285750" indent="-285750">
              <a:lnSpc>
                <a:spcPts val="2100"/>
              </a:lnSpc>
              <a:buFont typeface="Arial"/>
              <a:buChar char="•"/>
            </a:pPr>
            <a:r>
              <a:rPr sz="1300" b="0">
                <a:solidFill>
                  <a:srgbClr val="4A5A6B"/>
                </a:solidFill>
                <a:latin typeface="Microsoft YaHei"/>
              </a:rPr>
              <a:t>ψ 上升 +15%：专家强化各自主奇异方向</a:t>
            </a:r>
          </a:p>
          <a:p>
            <a:pPr algn="l" marL="285750" indent="-285750">
              <a:lnSpc>
                <a:spcPts val="2100"/>
              </a:lnSpc>
              <a:buFont typeface="Arial"/>
              <a:buChar char="•"/>
            </a:pPr>
            <a:r>
              <a:rPr sz="1300" b="0">
                <a:solidFill>
                  <a:srgbClr val="4A5A6B"/>
                </a:solidFill>
                <a:latin typeface="Microsoft YaHei"/>
              </a:rPr>
              <a:t>（即功能特化）</a:t>
            </a:r>
          </a:p>
          <a:p>
            <a:pPr algn="l" marL="285750" indent="-285750">
              <a:lnSpc>
                <a:spcPts val="2100"/>
              </a:lnSpc>
              <a:buFont typeface="Arial"/>
              <a:buChar char="•"/>
            </a:pPr>
            <a:r>
              <a:rPr sz="1300" b="0">
                <a:solidFill>
                  <a:srgbClr val="4A5A6B"/>
                </a:solidFill>
                <a:latin typeface="Microsoft YaHei"/>
              </a:rPr>
              <a:t>路由 SR/$d$ 自 step 5K 起冻结 ——</a:t>
            </a:r>
          </a:p>
          <a:p>
            <a:pPr algn="l" marL="285750" indent="-285750">
              <a:lnSpc>
                <a:spcPts val="2100"/>
              </a:lnSpc>
              <a:buFont typeface="Arial"/>
              <a:buChar char="•"/>
            </a:pPr>
            <a:r>
              <a:rPr sz="1300" b="0">
                <a:solidFill>
                  <a:srgbClr val="4A5A6B"/>
                </a:solidFill>
                <a:latin typeface="Microsoft YaHei"/>
              </a:rPr>
              <a:t>路由几何结构极早固化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4709160"/>
            <a:ext cx="4617720" cy="914400"/>
          </a:xfrm>
          <a:prstGeom prst="roundRect">
            <a:avLst>
              <a:gd name="adj" fmla="val 8000"/>
            </a:avLst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95160" y="4846320"/>
            <a:ext cx="4343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ts val="1800"/>
              </a:lnSpc>
            </a:pPr>
            <a:r>
              <a:rPr sz="1300" b="0">
                <a:solidFill>
                  <a:srgbClr val="1F2D3D"/>
                </a:solidFill>
                <a:latin typeface="Microsoft YaHei"/>
              </a:rPr>
              <a:t>由于 α 不变，</a:t>
            </a:r>
            <a:r>
              <a:rPr sz="1300" b="1">
                <a:solidFill>
                  <a:srgbClr val="1A4F8B"/>
                </a:solidFill>
                <a:latin typeface="Microsoft YaHei"/>
              </a:rPr>
              <a:t>EPR 才是 MoE 的敏感健康信号</a:t>
            </a:r>
          </a:p>
          <a:p>
            <a:pPr algn="l">
              <a:lnSpc>
                <a:spcPts val="1800"/>
              </a:lnSpc>
            </a:pPr>
            <a:r>
              <a:rPr sz="1300" b="0">
                <a:solidFill>
                  <a:srgbClr val="1F2D3D"/>
                </a:solidFill>
                <a:latin typeface="Microsoft YaHei"/>
              </a:rPr>
              <a:t>—— 监控专家坍缩应看 EPR，而非 α。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B8D"/>
                </a:solidFill>
                <a:latin typeface="Consolas"/>
              </a:rP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8778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>
                <a:solidFill>
                  <a:srgbClr val="1F2D3D"/>
                </a:solidFill>
                <a:latin typeface="Microsoft YaHei"/>
              </a:rPr>
              <a:t>发现 D：MoE 与 Dense 对比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63840" y="603504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1A4F8B"/>
                </a:solidFill>
                <a:latin typeface="Microsoft YaHei"/>
              </a:rPr>
              <a:t>差异总览</a:t>
            </a:r>
          </a:p>
        </p:txBody>
      </p:sp>
      <p:pic>
        <p:nvPicPr>
          <p:cNvPr id="4" name="Picture 3" descr="moe_fig4_moe_vs_de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126480" cy="4251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0" y="1554480"/>
            <a:ext cx="4663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85750" indent="-285750">
              <a:lnSpc>
                <a:spcPts val="2100"/>
              </a:lnSpc>
              <a:buFont typeface="Arial"/>
              <a:buChar char="•"/>
            </a:pPr>
            <a:r>
              <a:rPr sz="1300" b="0">
                <a:solidFill>
                  <a:srgbClr val="4A5A6B"/>
                </a:solidFill>
                <a:latin typeface="Microsoft YaHei"/>
              </a:rPr>
              <a:t>Dense：α 从 6.5→3.2 后 </a:t>
            </a:r>
            <a:r>
              <a:rPr sz="1300" b="1">
                <a:solidFill>
                  <a:srgbClr val="1F2D3D"/>
                </a:solidFill>
                <a:latin typeface="Microsoft YaHei"/>
              </a:rPr>
              <a:t>反转回升</a:t>
            </a:r>
          </a:p>
          <a:p>
            <a:pPr algn="l" marL="285750" indent="-285750">
              <a:lnSpc>
                <a:spcPts val="2100"/>
              </a:lnSpc>
              <a:buFont typeface="Arial"/>
              <a:buChar char="•"/>
            </a:pPr>
            <a:r>
              <a:rPr sz="1300" b="0">
                <a:solidFill>
                  <a:srgbClr val="4A5A6B"/>
                </a:solidFill>
                <a:latin typeface="Microsoft YaHei"/>
              </a:rPr>
              <a:t>MoE：α 恒定在 1.46（低于 Lévy α=2）</a:t>
            </a:r>
          </a:p>
          <a:p>
            <a:pPr algn="l" marL="285750" indent="-285750">
              <a:lnSpc>
                <a:spcPts val="2100"/>
              </a:lnSpc>
              <a:buFont typeface="Arial"/>
              <a:buChar char="•"/>
            </a:pPr>
            <a:r>
              <a:rPr sz="1300" b="0">
                <a:solidFill>
                  <a:srgbClr val="4A5A6B"/>
                </a:solidFill>
                <a:latin typeface="Microsoft YaHei"/>
              </a:rPr>
              <a:t>变化幅度：α 0.3% · SR/$d$ 12% · </a:t>
            </a:r>
            <a:r>
              <a:rPr sz="1300" b="1">
                <a:solidFill>
                  <a:srgbClr val="2D6A4F"/>
                </a:solidFill>
                <a:latin typeface="Microsoft YaHei"/>
              </a:rPr>
              <a:t>EPR 76%</a:t>
            </a:r>
          </a:p>
          <a:p>
            <a:pPr algn="l" marL="285750" indent="-285750">
              <a:lnSpc>
                <a:spcPts val="2100"/>
              </a:lnSpc>
              <a:buFont typeface="Arial"/>
              <a:buChar char="•"/>
            </a:pPr>
            <a:r>
              <a:rPr sz="1300" b="0">
                <a:solidFill>
                  <a:srgbClr val="4A5A6B"/>
                </a:solidFill>
                <a:latin typeface="Microsoft YaHei"/>
              </a:rPr>
              <a:t>首次报告逐专家 α 测量 ——</a:t>
            </a:r>
          </a:p>
          <a:p>
            <a:pPr algn="l" marL="285750" indent="-285750">
              <a:lnSpc>
                <a:spcPts val="2100"/>
              </a:lnSpc>
              <a:buFont typeface="Arial"/>
              <a:buChar char="•"/>
            </a:pPr>
            <a:r>
              <a:rPr sz="1300" b="0">
                <a:solidFill>
                  <a:srgbClr val="4A5A6B"/>
                </a:solidFill>
                <a:latin typeface="Microsoft YaHei"/>
              </a:rPr>
              <a:t>填补 HT-SR 文献的明确空白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4709160"/>
            <a:ext cx="4617720" cy="914400"/>
          </a:xfrm>
          <a:prstGeom prst="roundRect">
            <a:avLst>
              <a:gd name="adj" fmla="val 8000"/>
            </a:avLst>
          </a:prstGeom>
          <a:solidFill>
            <a:srgbClr val="E6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95160" y="4846320"/>
            <a:ext cx="4343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ts val="1800"/>
              </a:lnSpc>
            </a:pPr>
            <a:r>
              <a:rPr sz="1300" b="0">
                <a:solidFill>
                  <a:srgbClr val="1F2D3D"/>
                </a:solidFill>
                <a:latin typeface="Microsoft YaHei"/>
              </a:rPr>
              <a:t>MoE 训练是 </a:t>
            </a:r>
            <a:r>
              <a:rPr sz="1300" b="1">
                <a:solidFill>
                  <a:srgbClr val="2D6A4F"/>
                </a:solidFill>
                <a:latin typeface="Microsoft YaHei"/>
              </a:rPr>
              <a:t>另一种动力学 regime</a:t>
            </a:r>
            <a:r>
              <a:rPr sz="1300" b="0">
                <a:solidFill>
                  <a:srgbClr val="1F2D3D"/>
                </a:solidFill>
                <a:latin typeface="Microsoft YaHei"/>
              </a:rPr>
              <a:t>：无弛豫、</a:t>
            </a:r>
          </a:p>
          <a:p>
            <a:pPr algn="l">
              <a:lnSpc>
                <a:spcPts val="1800"/>
              </a:lnSpc>
            </a:pPr>
            <a:r>
              <a:rPr sz="1300" b="0">
                <a:solidFill>
                  <a:srgbClr val="1F2D3D"/>
                </a:solidFill>
                <a:latin typeface="Microsoft YaHei"/>
              </a:rPr>
              <a:t>SR/d 弹道式收敛（β=1.85）、α 由信息瓶颈决定。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B8D"/>
                </a:solidFill>
                <a:latin typeface="Consolas"/>
              </a:rP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8778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>
                <a:solidFill>
                  <a:srgbClr val="1F2D3D"/>
                </a:solidFill>
                <a:latin typeface="Microsoft YaHei"/>
              </a:rPr>
              <a:t>发现 E：专家宽度决定 α regime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63840" y="603504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1A4F8B"/>
                </a:solidFill>
                <a:latin typeface="Microsoft YaHei"/>
              </a:rPr>
              <a:t>阶段 2 · 跨模型</a:t>
            </a:r>
          </a:p>
        </p:txBody>
      </p:sp>
      <p:pic>
        <p:nvPicPr>
          <p:cNvPr id="4" name="Picture 3" descr="moe_fig5_alpha_vs_expert_s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126480" cy="42519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858000" y="1508760"/>
            <a:ext cx="4572000" cy="73152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0" y="162763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F2D3D"/>
                </a:solidFill>
                <a:latin typeface="Consolas"/>
              </a:rPr>
              <a:t>int 1024 → 6400 → 14336  ⇒  α 1.46 → 3.03 → 4.00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514600"/>
            <a:ext cx="4663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85750" indent="-285750">
              <a:lnSpc>
                <a:spcPts val="2100"/>
              </a:lnSpc>
              <a:buFont typeface="Arial"/>
              <a:buChar char="•"/>
            </a:pPr>
            <a:r>
              <a:rPr sz="1300" b="0">
                <a:solidFill>
                  <a:srgbClr val="4A5A6B"/>
                </a:solidFill>
                <a:latin typeface="Microsoft YaHei"/>
              </a:rPr>
              <a:t>三个模型构成清晰的 </a:t>
            </a:r>
            <a:r>
              <a:rPr sz="1300" b="1">
                <a:solidFill>
                  <a:srgbClr val="1F2D3D"/>
                </a:solidFill>
                <a:latin typeface="Microsoft YaHei"/>
              </a:rPr>
              <a:t>单调阶梯</a:t>
            </a:r>
          </a:p>
          <a:p>
            <a:pPr algn="l" marL="285750" indent="-285750">
              <a:lnSpc>
                <a:spcPts val="2100"/>
              </a:lnSpc>
              <a:buFont typeface="Arial"/>
              <a:buChar char="•"/>
            </a:pPr>
            <a:r>
              <a:rPr sz="1300" b="0">
                <a:solidFill>
                  <a:srgbClr val="4A5A6B"/>
                </a:solidFill>
                <a:latin typeface="Microsoft YaHei"/>
              </a:rPr>
              <a:t>OLMoE int=1024 → </a:t>
            </a:r>
            <a:r>
              <a:rPr sz="1300" b="1">
                <a:solidFill>
                  <a:srgbClr val="1A4F8B"/>
                </a:solidFill>
                <a:latin typeface="Microsoft YaHei"/>
              </a:rPr>
              <a:t>α=1.46</a:t>
            </a:r>
            <a:r>
              <a:rPr sz="1300" b="0">
                <a:solidFill>
                  <a:srgbClr val="4A5A6B"/>
                </a:solidFill>
                <a:latin typeface="Microsoft YaHei"/>
              </a:rPr>
              <a:t>（Lévy）</a:t>
            </a:r>
          </a:p>
          <a:p>
            <a:pPr algn="l" marL="285750" indent="-285750">
              <a:lnSpc>
                <a:spcPts val="2100"/>
              </a:lnSpc>
              <a:buFont typeface="Arial"/>
              <a:buChar char="•"/>
            </a:pPr>
            <a:r>
              <a:rPr sz="1300" b="0">
                <a:solidFill>
                  <a:srgbClr val="4A5A6B"/>
                </a:solidFill>
                <a:latin typeface="Microsoft YaHei"/>
              </a:rPr>
              <a:t>Phi-3.5 int=6400 → </a:t>
            </a:r>
            <a:r>
              <a:rPr sz="1300" b="1">
                <a:solidFill>
                  <a:srgbClr val="C87A1A"/>
                </a:solidFill>
                <a:latin typeface="Microsoft YaHei"/>
              </a:rPr>
              <a:t>α=3.03</a:t>
            </a:r>
            <a:r>
              <a:rPr sz="1300" b="0">
                <a:solidFill>
                  <a:srgbClr val="4A5A6B"/>
                </a:solidFill>
                <a:latin typeface="Microsoft YaHei"/>
              </a:rPr>
              <a:t>（过渡区）</a:t>
            </a:r>
          </a:p>
          <a:p>
            <a:pPr algn="l" marL="285750" indent="-285750">
              <a:lnSpc>
                <a:spcPts val="2100"/>
              </a:lnSpc>
              <a:buFont typeface="Arial"/>
              <a:buChar char="•"/>
            </a:pPr>
            <a:r>
              <a:rPr sz="1300" b="0">
                <a:solidFill>
                  <a:srgbClr val="4A5A6B"/>
                </a:solidFill>
                <a:latin typeface="Microsoft YaHei"/>
              </a:rPr>
              <a:t>Mixtral int=14336 → </a:t>
            </a:r>
            <a:r>
              <a:rPr sz="1300" b="1">
                <a:solidFill>
                  <a:srgbClr val="2D6A4F"/>
                </a:solidFill>
                <a:latin typeface="Microsoft YaHei"/>
              </a:rPr>
              <a:t>α=4.00</a:t>
            </a:r>
            <a:r>
              <a:rPr sz="1300" b="0">
                <a:solidFill>
                  <a:srgbClr val="4A5A6B"/>
                </a:solidFill>
                <a:latin typeface="Microsoft YaHei"/>
              </a:rPr>
              <a:t>（Dense-like）</a:t>
            </a:r>
          </a:p>
          <a:p>
            <a:pPr algn="l" marL="285750" indent="-285750">
              <a:lnSpc>
                <a:spcPts val="2100"/>
              </a:lnSpc>
              <a:buFont typeface="Arial"/>
              <a:buChar char="•"/>
            </a:pPr>
            <a:r>
              <a:rPr sz="1300" b="0">
                <a:solidFill>
                  <a:srgbClr val="4A5A6B"/>
                </a:solidFill>
                <a:latin typeface="Microsoft YaHei"/>
              </a:rPr>
              <a:t>由 </a:t>
            </a:r>
            <a:r>
              <a:rPr sz="1300" b="1">
                <a:solidFill>
                  <a:srgbClr val="1F2D3D"/>
                </a:solidFill>
                <a:latin typeface="Microsoft YaHei"/>
              </a:rPr>
              <a:t>逐专家宽度</a:t>
            </a:r>
            <a:r>
              <a:rPr sz="1300" b="0">
                <a:solidFill>
                  <a:srgbClr val="4A5A6B"/>
                </a:solidFill>
                <a:latin typeface="Microsoft YaHei"/>
              </a:rPr>
              <a:t> 决定，而非模型总规模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4709160"/>
            <a:ext cx="4617720" cy="914400"/>
          </a:xfrm>
          <a:prstGeom prst="roundRect">
            <a:avLst>
              <a:gd name="adj" fmla="val 8000"/>
            </a:avLst>
          </a:prstGeom>
          <a:solidFill>
            <a:srgbClr val="E6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4846320"/>
            <a:ext cx="4343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ts val="1800"/>
              </a:lnSpc>
            </a:pPr>
            <a:r>
              <a:rPr sz="1300" b="0">
                <a:solidFill>
                  <a:srgbClr val="1F2D3D"/>
                </a:solidFill>
                <a:latin typeface="Microsoft YaHei"/>
              </a:rPr>
              <a:t>MoE 中的 α&lt;2 是 </a:t>
            </a:r>
            <a:r>
              <a:rPr sz="1300" b="1">
                <a:solidFill>
                  <a:srgbClr val="2D6A4F"/>
                </a:solidFill>
                <a:latin typeface="Microsoft YaHei"/>
              </a:rPr>
              <a:t>信息瓶颈</a:t>
            </a:r>
            <a:r>
              <a:rPr sz="1300" b="0">
                <a:solidFill>
                  <a:srgbClr val="1F2D3D"/>
                </a:solidFill>
                <a:latin typeface="Microsoft YaHei"/>
              </a:rPr>
              <a:t> 效应，</a:t>
            </a:r>
          </a:p>
          <a:p>
            <a:pPr algn="l">
              <a:lnSpc>
                <a:spcPts val="1800"/>
              </a:lnSpc>
            </a:pPr>
            <a:r>
              <a:rPr sz="1300" b="0">
                <a:solidFill>
                  <a:srgbClr val="1F2D3D"/>
                </a:solidFill>
                <a:latin typeface="Microsoft YaHei"/>
              </a:rPr>
              <a:t>而非过拟合 —— 窄专家强制形成重尾分布。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B8D"/>
                </a:solidFill>
                <a:latin typeface="Consolas"/>
              </a:rP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8778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>
                <a:solidFill>
                  <a:srgbClr val="1F2D3D"/>
                </a:solidFill>
                <a:latin typeface="Microsoft YaHei"/>
              </a:rPr>
              <a:t>发现 F：排序一致，整体下移至 Lévy 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63840" y="603504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1A4F8B"/>
                </a:solidFill>
                <a:latin typeface="Microsoft YaHei"/>
              </a:rPr>
              <a:t>逐层分解</a:t>
            </a:r>
          </a:p>
        </p:txBody>
      </p:sp>
      <p:pic>
        <p:nvPicPr>
          <p:cNvPr id="4" name="Picture 3" descr="dense_vs_moe_attn_ff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126480" cy="42519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858000" y="1508760"/>
            <a:ext cx="4572000" cy="73152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0" y="162763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F2D3D"/>
                </a:solidFill>
                <a:latin typeface="Consolas"/>
              </a:rPr>
              <a:t>两者都是 FFN &gt; attn；gap Δα 1.26 → 0.41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514600"/>
            <a:ext cx="4663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85750" indent="-285750">
              <a:lnSpc>
                <a:spcPts val="2100"/>
              </a:lnSpc>
              <a:buFont typeface="Arial"/>
              <a:buChar char="•"/>
            </a:pPr>
            <a:r>
              <a:rPr sz="1300" b="0">
                <a:solidFill>
                  <a:srgbClr val="4A5A6B"/>
                </a:solidFill>
                <a:latin typeface="Microsoft YaHei"/>
              </a:rPr>
              <a:t>排序保持不变：</a:t>
            </a:r>
            <a:r>
              <a:rPr sz="1300" b="1">
                <a:solidFill>
                  <a:srgbClr val="1F2D3D"/>
                </a:solidFill>
                <a:latin typeface="Microsoft YaHei"/>
              </a:rPr>
              <a:t>FFN α &gt; attn α</a:t>
            </a:r>
            <a:r>
              <a:rPr sz="1300" b="0">
                <a:solidFill>
                  <a:srgbClr val="4A5A6B"/>
                </a:solidFill>
                <a:latin typeface="Microsoft YaHei"/>
              </a:rPr>
              <a:t>（两者皆然）</a:t>
            </a:r>
          </a:p>
          <a:p>
            <a:pPr algn="l" marL="285750" indent="-285750">
              <a:lnSpc>
                <a:spcPts val="2100"/>
              </a:lnSpc>
              <a:buFont typeface="Arial"/>
              <a:buChar char="•"/>
            </a:pPr>
            <a:r>
              <a:rPr sz="1300" b="0">
                <a:solidFill>
                  <a:srgbClr val="4A5A6B"/>
                </a:solidFill>
                <a:latin typeface="Microsoft YaHei"/>
              </a:rPr>
              <a:t>（Dense：MLP 3.34 &gt; attn 2.08；MoE：1.62 &gt; 1.21）</a:t>
            </a:r>
          </a:p>
          <a:p>
            <a:pPr algn="l" marL="285750" indent="-285750">
              <a:lnSpc>
                <a:spcPts val="2100"/>
              </a:lnSpc>
              <a:buFont typeface="Arial"/>
              <a:buChar char="•"/>
            </a:pPr>
            <a:r>
              <a:rPr sz="1300" b="0">
                <a:solidFill>
                  <a:srgbClr val="4A5A6B"/>
                </a:solidFill>
                <a:latin typeface="Microsoft YaHei"/>
              </a:rPr>
              <a:t>但 MoE 把 </a:t>
            </a:r>
            <a:r>
              <a:rPr sz="1300" b="1">
                <a:solidFill>
                  <a:srgbClr val="2D6A4F"/>
                </a:solidFill>
                <a:latin typeface="Microsoft YaHei"/>
              </a:rPr>
              <a:t>每个组件都压到 α&lt;2</a:t>
            </a:r>
          </a:p>
          <a:p>
            <a:pPr algn="l" marL="285750" indent="-285750">
              <a:lnSpc>
                <a:spcPts val="2100"/>
              </a:lnSpc>
              <a:buFont typeface="Arial"/>
              <a:buChar char="•"/>
            </a:pPr>
            <a:r>
              <a:rPr sz="1300" b="0">
                <a:solidFill>
                  <a:srgbClr val="4A5A6B"/>
                </a:solidFill>
                <a:latin typeface="Microsoft YaHei"/>
              </a:rPr>
              <a:t>且 attn–FFN 的差距缩小（1.26 → 0.41）</a:t>
            </a:r>
          </a:p>
          <a:p>
            <a:pPr algn="l" marL="285750" indent="-285750">
              <a:lnSpc>
                <a:spcPts val="2100"/>
              </a:lnSpc>
              <a:buFont typeface="Arial"/>
              <a:buChar char="•"/>
            </a:pPr>
            <a:r>
              <a:rPr sz="1300" b="0">
                <a:solidFill>
                  <a:srgbClr val="4A5A6B"/>
                </a:solidFill>
                <a:latin typeface="Microsoft YaHei"/>
              </a:rPr>
              <a:t>attn 内部：q/k（α≈1.1）&lt; v/o（α≈1.27）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4709160"/>
            <a:ext cx="4617720" cy="914400"/>
          </a:xfrm>
          <a:prstGeom prst="roundRect">
            <a:avLst>
              <a:gd name="adj" fmla="val 8000"/>
            </a:avLst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4846320"/>
            <a:ext cx="4343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ts val="1800"/>
              </a:lnSpc>
            </a:pPr>
            <a:r>
              <a:rPr sz="1300" b="0">
                <a:solidFill>
                  <a:srgbClr val="1F2D3D"/>
                </a:solidFill>
                <a:latin typeface="Microsoft YaHei"/>
              </a:rPr>
              <a:t>MoE 并未反转层次结构 —— 而是把</a:t>
            </a:r>
            <a:r>
              <a:rPr sz="1300" b="1">
                <a:solidFill>
                  <a:srgbClr val="2D6A4F"/>
                </a:solidFill>
                <a:latin typeface="Microsoft YaHei"/>
              </a:rPr>
              <a:t>所有组件</a:t>
            </a:r>
          </a:p>
          <a:p>
            <a:pPr algn="l">
              <a:lnSpc>
                <a:spcPts val="1800"/>
              </a:lnSpc>
            </a:pPr>
            <a:r>
              <a:rPr sz="1300" b="0">
                <a:solidFill>
                  <a:srgbClr val="1F2D3D"/>
                </a:solidFill>
                <a:latin typeface="Microsoft YaHei"/>
              </a:rPr>
              <a:t>压缩进重尾的 Lévy 区间。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B8D"/>
                </a:solidFill>
                <a:latin typeface="Consolas"/>
              </a:rP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8778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>
                <a:solidFill>
                  <a:srgbClr val="1F2D3D"/>
                </a:solidFill>
                <a:latin typeface="Microsoft YaHei"/>
              </a:rPr>
              <a:t>发现 G：专家越少，特化越强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63840" y="603504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1A4F8B"/>
                </a:solidFill>
                <a:latin typeface="Microsoft YaHei"/>
              </a:rPr>
              <a:t>逐专家差异</a:t>
            </a:r>
          </a:p>
        </p:txBody>
      </p:sp>
      <p:pic>
        <p:nvPicPr>
          <p:cNvPr id="4" name="Picture 3" descr="moe_spread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126480" cy="42519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858000" y="1508760"/>
            <a:ext cx="4572000" cy="73152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0" y="162763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F2D3D"/>
                </a:solidFill>
                <a:latin typeface="Consolas"/>
              </a:rPr>
              <a:t>OLMoE σ(α)=0.02   vs   Mixtral σ(α)=0.85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514600"/>
            <a:ext cx="4663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85750" indent="-285750">
              <a:lnSpc>
                <a:spcPts val="2100"/>
              </a:lnSpc>
              <a:buFont typeface="Arial"/>
              <a:buChar char="•"/>
            </a:pPr>
            <a:r>
              <a:rPr sz="1300" b="0">
                <a:solidFill>
                  <a:srgbClr val="4A5A6B"/>
                </a:solidFill>
                <a:latin typeface="Microsoft YaHei"/>
              </a:rPr>
              <a:t>OLMoE（64 专家）：各专家谱性质 </a:t>
            </a:r>
            <a:r>
              <a:rPr sz="1300" b="1">
                <a:solidFill>
                  <a:srgbClr val="1A4F8B"/>
                </a:solidFill>
                <a:latin typeface="Microsoft YaHei"/>
              </a:rPr>
              <a:t>近乎相同</a:t>
            </a:r>
          </a:p>
          <a:p>
            <a:pPr algn="l" marL="285750" indent="-285750">
              <a:lnSpc>
                <a:spcPts val="2100"/>
              </a:lnSpc>
              <a:buFont typeface="Arial"/>
              <a:buChar char="•"/>
            </a:pPr>
            <a:r>
              <a:rPr sz="1300" b="0">
                <a:solidFill>
                  <a:srgbClr val="4A5A6B"/>
                </a:solidFill>
                <a:latin typeface="Microsoft YaHei"/>
              </a:rPr>
              <a:t>—— 细粒度 MoE 趋向同质化</a:t>
            </a:r>
          </a:p>
          <a:p>
            <a:pPr algn="l" marL="285750" indent="-285750">
              <a:lnSpc>
                <a:spcPts val="2100"/>
              </a:lnSpc>
              <a:buFont typeface="Arial"/>
              <a:buChar char="•"/>
            </a:pPr>
            <a:r>
              <a:rPr sz="1300" b="0">
                <a:solidFill>
                  <a:srgbClr val="4A5A6B"/>
                </a:solidFill>
                <a:latin typeface="Microsoft YaHei"/>
              </a:rPr>
              <a:t>Mixtral（8 专家）：α 跨度 2.5–6.5 ——</a:t>
            </a:r>
          </a:p>
          <a:p>
            <a:pPr algn="l" marL="285750" indent="-285750">
              <a:lnSpc>
                <a:spcPts val="2100"/>
              </a:lnSpc>
              <a:buFont typeface="Arial"/>
              <a:buChar char="•"/>
            </a:pPr>
            <a:r>
              <a:rPr sz="1300" b="0">
                <a:solidFill>
                  <a:srgbClr val="4A5A6B"/>
                </a:solidFill>
                <a:latin typeface="Microsoft YaHei"/>
              </a:rPr>
              <a:t>粗粒度 MoE 驱动强烈特化</a:t>
            </a:r>
          </a:p>
          <a:p>
            <a:pPr algn="l" marL="285750" indent="-285750">
              <a:lnSpc>
                <a:spcPts val="2100"/>
              </a:lnSpc>
              <a:buFont typeface="Arial"/>
              <a:buChar char="•"/>
            </a:pPr>
            <a:r>
              <a:rPr sz="1300" b="0">
                <a:solidFill>
                  <a:srgbClr val="4A5A6B"/>
                </a:solidFill>
                <a:latin typeface="Microsoft YaHei"/>
              </a:rPr>
              <a:t>Mixtral FFN α 随深度升高（→6），类似 dense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4709160"/>
            <a:ext cx="4617720" cy="914400"/>
          </a:xfrm>
          <a:prstGeom prst="roundRect">
            <a:avLst>
              <a:gd name="adj" fmla="val 8000"/>
            </a:avLst>
          </a:prstGeom>
          <a:solidFill>
            <a:srgbClr val="E6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4846320"/>
            <a:ext cx="4343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ts val="1800"/>
              </a:lnSpc>
            </a:pPr>
            <a:r>
              <a:rPr sz="1300" b="0">
                <a:solidFill>
                  <a:srgbClr val="1F2D3D"/>
                </a:solidFill>
                <a:latin typeface="Microsoft YaHei"/>
              </a:rPr>
              <a:t>专家粒度是一个 </a:t>
            </a:r>
            <a:r>
              <a:rPr sz="1300" b="1">
                <a:solidFill>
                  <a:srgbClr val="2D6A4F"/>
                </a:solidFill>
                <a:latin typeface="Microsoft YaHei"/>
              </a:rPr>
              <a:t>特化调节旋钮</a:t>
            </a:r>
            <a:r>
              <a:rPr sz="1300" b="0">
                <a:solidFill>
                  <a:srgbClr val="1F2D3D"/>
                </a:solidFill>
                <a:latin typeface="Microsoft YaHei"/>
              </a:rPr>
              <a:t>：</a:t>
            </a:r>
          </a:p>
          <a:p>
            <a:pPr algn="l">
              <a:lnSpc>
                <a:spcPts val="1800"/>
              </a:lnSpc>
            </a:pPr>
            <a:r>
              <a:rPr sz="1300" b="0">
                <a:solidFill>
                  <a:srgbClr val="1F2D3D"/>
                </a:solidFill>
                <a:latin typeface="Microsoft YaHei"/>
              </a:rPr>
              <a:t>少而宽的专家分化，多而窄的专家趋同。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B8D"/>
                </a:solidFill>
                <a:latin typeface="Consolas"/>
              </a:rP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8778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>
                <a:solidFill>
                  <a:srgbClr val="1F2D3D"/>
                </a:solidFill>
                <a:latin typeface="Microsoft YaHei"/>
              </a:rPr>
              <a:t>发现 H：矩阵宽度普适地决定 α regime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63840" y="603504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1A4F8B"/>
                </a:solidFill>
                <a:latin typeface="Microsoft YaHei"/>
              </a:rPr>
              <a:t>Dense + MoE 统一</a:t>
            </a:r>
          </a:p>
        </p:txBody>
      </p:sp>
      <p:pic>
        <p:nvPicPr>
          <p:cNvPr id="4" name="Picture 3" descr="unified_alpha_vs_wid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126480" cy="42519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858000" y="1508760"/>
            <a:ext cx="4572000" cy="73152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0" y="162763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F2D3D"/>
                </a:solidFill>
                <a:latin typeface="Consolas"/>
              </a:rPr>
              <a:t>窄矩阵 → Lévy (α&lt;2)   ·   宽矩阵 → α 4–5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514600"/>
            <a:ext cx="4663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85750" indent="-285750">
              <a:lnSpc>
                <a:spcPts val="2100"/>
              </a:lnSpc>
              <a:buFont typeface="Arial"/>
              <a:buChar char="•"/>
            </a:pPr>
            <a:r>
              <a:rPr sz="1300" b="0">
                <a:solidFill>
                  <a:srgbClr val="4A5A6B"/>
                </a:solidFill>
                <a:latin typeface="Microsoft YaHei"/>
              </a:rPr>
              <a:t>两个族 </a:t>
            </a:r>
            <a:r>
              <a:rPr sz="1300" b="1">
                <a:solidFill>
                  <a:srgbClr val="1F2D3D"/>
                </a:solidFill>
                <a:latin typeface="Microsoft YaHei"/>
              </a:rPr>
              <a:t>趋势一致</a:t>
            </a:r>
            <a:r>
              <a:rPr sz="1300" b="0">
                <a:solidFill>
                  <a:srgbClr val="4A5A6B"/>
                </a:solidFill>
                <a:latin typeface="Microsoft YaHei"/>
              </a:rPr>
              <a:t>：越宽 → α 越高</a:t>
            </a:r>
          </a:p>
          <a:p>
            <a:pPr algn="l" marL="285750" indent="-285750">
              <a:lnSpc>
                <a:spcPts val="2100"/>
              </a:lnSpc>
              <a:buFont typeface="Arial"/>
              <a:buChar char="•"/>
            </a:pPr>
            <a:r>
              <a:rPr sz="1300" b="0">
                <a:solidFill>
                  <a:srgbClr val="4A5A6B"/>
                </a:solidFill>
                <a:latin typeface="Microsoft YaHei"/>
              </a:rPr>
              <a:t>Dense Pythia：hidden 512→4096 ⇒ attn α 1.6→5.2</a:t>
            </a:r>
          </a:p>
          <a:p>
            <a:pPr algn="l" marL="285750" indent="-285750">
              <a:lnSpc>
                <a:spcPts val="2100"/>
              </a:lnSpc>
              <a:buFont typeface="Arial"/>
              <a:buChar char="•"/>
            </a:pPr>
            <a:r>
              <a:rPr sz="1300" b="0">
                <a:solidFill>
                  <a:srgbClr val="4A5A6B"/>
                </a:solidFill>
                <a:latin typeface="Microsoft YaHei"/>
              </a:rPr>
              <a:t>MoE：expert int 1024→14336 ⇒ α 1.46→4.00</a:t>
            </a:r>
          </a:p>
          <a:p>
            <a:pPr algn="l" marL="285750" indent="-285750">
              <a:lnSpc>
                <a:spcPts val="2100"/>
              </a:lnSpc>
              <a:buFont typeface="Arial"/>
              <a:buChar char="•"/>
            </a:pPr>
            <a:r>
              <a:rPr sz="1300" b="0">
                <a:solidFill>
                  <a:srgbClr val="4A5A6B"/>
                </a:solidFill>
                <a:latin typeface="Microsoft YaHei"/>
              </a:rPr>
              <a:t>α&lt;2 </a:t>
            </a:r>
            <a:r>
              <a:rPr sz="1300" b="1">
                <a:solidFill>
                  <a:srgbClr val="2D6A4F"/>
                </a:solidFill>
                <a:latin typeface="Microsoft YaHei"/>
              </a:rPr>
              <a:t>并非 MoE 独有</a:t>
            </a:r>
            <a:r>
              <a:rPr sz="1300" b="0">
                <a:solidFill>
                  <a:srgbClr val="4A5A6B"/>
                </a:solidFill>
                <a:latin typeface="Microsoft YaHei"/>
              </a:rPr>
              <a:t>——小 dense</a:t>
            </a:r>
          </a:p>
          <a:p>
            <a:pPr algn="l" marL="285750" indent="-285750">
              <a:lnSpc>
                <a:spcPts val="2100"/>
              </a:lnSpc>
              <a:buFont typeface="Arial"/>
              <a:buChar char="•"/>
            </a:pPr>
            <a:r>
              <a:rPr sz="1300" b="0">
                <a:solidFill>
                  <a:srgbClr val="4A5A6B"/>
                </a:solidFill>
                <a:latin typeface="Microsoft YaHei"/>
              </a:rPr>
              <a:t>模型的 attention 同样是重尾的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4709160"/>
            <a:ext cx="4617720" cy="914400"/>
          </a:xfrm>
          <a:prstGeom prst="roundRect">
            <a:avLst>
              <a:gd name="adj" fmla="val 8000"/>
            </a:avLst>
          </a:prstGeom>
          <a:solidFill>
            <a:srgbClr val="E6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4846320"/>
            <a:ext cx="4343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ts val="1800"/>
              </a:lnSpc>
            </a:pPr>
            <a:r>
              <a:rPr sz="1300" b="0">
                <a:solidFill>
                  <a:srgbClr val="1F2D3D"/>
                </a:solidFill>
                <a:latin typeface="Microsoft YaHei"/>
              </a:rPr>
              <a:t>α regime 由 </a:t>
            </a:r>
            <a:r>
              <a:rPr sz="1300" b="1">
                <a:solidFill>
                  <a:srgbClr val="2D6A4F"/>
                </a:solidFill>
                <a:latin typeface="Microsoft YaHei"/>
              </a:rPr>
              <a:t>单矩阵宽度</a:t>
            </a:r>
            <a:r>
              <a:rPr sz="1300" b="0">
                <a:solidFill>
                  <a:srgbClr val="1F2D3D"/>
                </a:solidFill>
                <a:latin typeface="Microsoft YaHei"/>
              </a:rPr>
              <a:t> 决定，</a:t>
            </a:r>
          </a:p>
          <a:p>
            <a:pPr algn="l">
              <a:lnSpc>
                <a:spcPts val="1800"/>
              </a:lnSpc>
            </a:pPr>
            <a:r>
              <a:rPr sz="1300" b="0">
                <a:solidFill>
                  <a:srgbClr val="1F2D3D"/>
                </a:solidFill>
                <a:latin typeface="Microsoft YaHei"/>
              </a:rPr>
              <a:t>而非 MoE/dense 之分 —— 一个统一的调节旋钮。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B8D"/>
                </a:solidFill>
                <a:latin typeface="Consolas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