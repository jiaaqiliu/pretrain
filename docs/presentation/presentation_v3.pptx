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00"/>
              </a:lnSpc>
              <a:defRPr sz="5200" b="1">
                <a:solidFill>
                  <a:srgbClr val="1F2D3D"/>
                </a:solidFill>
                <a:latin typeface="Microsoft YaHei"/>
              </a:defRPr>
            </a:pPr>
            <a:r>
              <a:t>Beyond Loss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400" b="0">
                <a:solidFill>
                  <a:srgbClr val="4A5A6B"/>
                </a:solidFill>
                <a:latin typeface="Microsoft YaHei"/>
              </a:defRPr>
            </a:pPr>
            <a:r>
              <a:t>Spectral Monitoring for LLM Pretraining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7C8A97"/>
                </a:solidFill>
                <a:latin typeface="Microsoft YaHei"/>
              </a:defRPr>
            </a:pPr>
            <a:r>
              <a:t>基于谱结构的大模型预训练监控框架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4572000"/>
            <a:ext cx="1737360" cy="41148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100">
                <a:solidFill>
                  <a:srgbClr val="1A4F8B"/>
                </a:solidFill>
                <a:latin typeface="Microsoft YaHei"/>
              </a:defRPr>
            </a:pPr>
            <a:r>
              <a:t>14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572000"/>
            <a:ext cx="1737360" cy="41148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100">
                <a:solidFill>
                  <a:srgbClr val="1A4F8B"/>
                </a:solidFill>
                <a:latin typeface="Microsoft YaHei"/>
              </a:defRPr>
            </a:pPr>
            <a:r>
              <a:t>4 Architectures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572000"/>
            <a:ext cx="1737360" cy="41148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100">
                <a:solidFill>
                  <a:srgbClr val="1A4F8B"/>
                </a:solidFill>
                <a:latin typeface="Microsoft YaHei"/>
              </a:defRPr>
            </a:pPr>
            <a:r>
              <a:t>~340 Checkpoints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4572000"/>
            <a:ext cx="1737360" cy="411480"/>
          </a:xfrm>
          <a:prstGeom prst="roundRect">
            <a:avLst/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100">
                <a:solidFill>
                  <a:srgbClr val="2D6A4F"/>
                </a:solidFill>
                <a:latin typeface="Microsoft YaHei"/>
              </a:defRPr>
            </a:pPr>
            <a:r>
              <a:t>2 Scales Validated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7C8A97"/>
                </a:solidFill>
                <a:latin typeface="Microsoft YaHei"/>
              </a:defRPr>
            </a:pPr>
            <a:r>
              <a:t>组会汇报 · 2026-05-27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F2D3D"/>
                </a:solidFill>
                <a:latin typeface="Microsoft YaHei"/>
              </a:defRPr>
            </a:pPr>
            <a:r>
              <a:t>预训练的 "盲飞" 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1A4F8B"/>
                </a:solidFill>
                <a:latin typeface="Microsoft YaHei"/>
              </a:defRPr>
            </a:pPr>
            <a:r>
              <a:t>The Blind Flight Problem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GPUs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GPT-4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~$100M+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数万 A100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3-6 月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Llama-3-70B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~$30M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16K H100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~3 月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DeepSeek-V3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~$5.5M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2048 H800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D3D"/>
                          </a:solidFill>
                          <a:latin typeface="Microsoft YaHei"/>
                        </a:defRPr>
                      </a:pPr>
                      <a:r>
                        <a:t>2 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0" y="1645920"/>
            <a:ext cx="4572000" cy="228600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$100M+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7432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0">
                <a:solidFill>
                  <a:srgbClr val="8E9CAD"/>
                </a:solidFill>
                <a:latin typeface="Microsoft YaHei"/>
              </a:defRPr>
            </a:pPr>
            <a:r>
              <a:t>Only 1 instrument:</a:t>
            </a:r>
            <a:br/>
            <a:r>
              <a:t>training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515600" cy="10972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1A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1A4F8B"/>
                </a:solidFill>
                <a:latin typeface="Microsoft YaHei"/>
              </a:defRPr>
            </a:pPr>
            <a:r>
              <a:t>整个训练过程中，工程师判断"训练是否正常"的核心指标只有一个：training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F2D3D"/>
                </a:solidFill>
                <a:latin typeface="Microsoft YaHei"/>
              </a:defRPr>
            </a:pPr>
            <a:r>
              <a:t>Loss 的四个根本性盲区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1A4F8B"/>
                </a:solidFill>
                <a:latin typeface="Microsoft YaHei"/>
              </a:defRPr>
            </a:pPr>
            <a:r>
              <a:t>Fundamental Blind Spots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6517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8B2C3A"/>
                </a:solidFill>
                <a:latin typeface="Microsoft YaHei"/>
              </a:defRPr>
            </a:pPr>
            <a:r>
              <a:t>盲区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F2D3D"/>
                </a:solidFill>
                <a:latin typeface="Microsoft YaHei"/>
              </a:defRPr>
            </a:pPr>
            <a:r>
              <a:t>Loss ↓ ≠ 模型变好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Memorization 也能降 loss，但泛化结构在退化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6517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967117"/>
                </a:solidFill>
                <a:latin typeface="Microsoft YaHei"/>
              </a:defRPr>
            </a:pPr>
            <a:r>
              <a:t>盲区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F2D3D"/>
                </a:solidFill>
                <a:latin typeface="Microsoft YaHei"/>
              </a:defRPr>
            </a:pPr>
            <a:r>
              <a:t>无法跨模型比较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1B 的 loss=3.0 与 70B 的 loss=3.0 含义完全不同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6517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4A3F7A"/>
                </a:solidFill>
                <a:latin typeface="Microsoft YaHei"/>
              </a:defRPr>
            </a:pPr>
            <a:r>
              <a:t>盲区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F2D3D"/>
                </a:solidFill>
                <a:latin typeface="Microsoft YaHei"/>
              </a:defRPr>
            </a:pPr>
            <a:r>
              <a:t>不知何时降 LR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Cosine/WSD 都是人为预设，缺乏模型自身信号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45920"/>
            <a:ext cx="26517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A4F8B"/>
                </a:solidFill>
                <a:latin typeface="Microsoft YaHei"/>
              </a:defRPr>
            </a:pPr>
            <a:r>
              <a:t>盲区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F2D3D"/>
                </a:solidFill>
                <a:latin typeface="Microsoft YaHei"/>
              </a:defRPr>
            </a:pPr>
            <a:r>
              <a:t>没有早期预警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结构退化时 loss 仍在下降——直到不可逆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967117"/>
                </a:solidFill>
                <a:latin typeface="Microsoft YaHei"/>
              </a:defRPr>
            </a:pPr>
            <a:r>
              <a:t>核心洞察: 智能不是记住信息，而是发现结构——我们需要直接测量结构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6B7B8D"/>
                </a:solidFill>
                <a:latin typeface="Consolas"/>
              </a:defRPr>
            </a:pPr>
            <a:r>
              <a:t>PART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两个核心指标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8E9CAD"/>
                </a:solidFill>
                <a:latin typeface="Microsoft YaHei"/>
              </a:defRPr>
            </a:pPr>
            <a:r>
              <a:t>Two Spectral Metrics: SR/d &amp; 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F2D3D"/>
                </a:solidFill>
                <a:latin typeface="Microsoft YaHei"/>
              </a:defRPr>
            </a:pPr>
            <a:r>
              <a:t>指标 1: SR/d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0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1A4F8B"/>
                </a:solidFill>
                <a:latin typeface="Microsoft YaHei"/>
              </a:defRPr>
            </a:pPr>
            <a:r>
              <a:t>Normalized Stable Rank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91440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1F2D3D"/>
                </a:solidFill>
                <a:latin typeface="Consolas"/>
              </a:defRPr>
            </a:pPr>
            <a:r>
              <a:t>SR(W) = ||W||²F / σ₁²    →    SR/d = SR(W) / d_model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400">
                <a:solidFill>
                  <a:srgbClr val="4A5A6B"/>
                </a:solidFill>
                <a:latin typeface="Microsoft YaHei"/>
              </a:defRPr>
            </a:pPr>
            <a:r>
              <a:t>物理含义: 矩阵用了多少百分比的可用维度空间</a:t>
            </a:r>
          </a:p>
          <a:p>
            <a:pPr>
              <a:lnSpc>
                <a:spcPts val="2200"/>
              </a:lnSpc>
              <a:defRPr sz="1400">
                <a:solidFill>
                  <a:srgbClr val="4A5A6B"/>
                </a:solidFill>
                <a:latin typeface="Microsoft YaHei"/>
              </a:defRPr>
            </a:pPr>
            <a:r>
              <a:t>数学本质: SR = exp(H₂)，即 Rényi-2 谱熵的指数</a:t>
            </a:r>
          </a:p>
          <a:p>
            <a:pPr>
              <a:lnSpc>
                <a:spcPts val="2200"/>
              </a:lnSpc>
              <a:defRPr sz="1400">
                <a:solidFill>
                  <a:srgbClr val="4A5A6B"/>
                </a:solidFill>
                <a:latin typeface="Microsoft YaHei"/>
              </a:defRPr>
            </a:pPr>
            <a:r>
              <a:t>计算成本: O(mn)，7B 全部层 ~5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029200" cy="9144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1A4F8B"/>
                </a:solidFill>
                <a:latin typeface="Microsoft YaHei"/>
              </a:defRPr>
            </a:pPr>
            <a:r>
              <a:t>SR/d ↓ = 谱熵减少 = 信息在压缩</a:t>
            </a:r>
            <a:br/>
            <a:r>
              <a:t>这不是类比——是数学恒等式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463040"/>
            <a:ext cx="41148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5544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1">
                <a:solidFill>
                  <a:srgbClr val="7C8A97"/>
                </a:solidFill>
                <a:latin typeface="Consolas"/>
              </a:defRPr>
            </a:pPr>
            <a:r>
              <a:t>~0.40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随机初始化 (Random Init)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7C8A97"/>
                </a:solidFill>
                <a:latin typeface="Microsoft YaHei"/>
              </a:defRPr>
            </a:pPr>
            <a:r>
              <a:t>↓ 训练 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383280"/>
            <a:ext cx="41148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4747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1">
                <a:solidFill>
                  <a:srgbClr val="1A4F8B"/>
                </a:solidFill>
                <a:latin typeface="Consolas"/>
              </a:defRPr>
            </a:pPr>
            <a:r>
              <a:t>~0.05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训练完成 (Fully Trained)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7548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压缩 ~8× → ΔH₂ ≈ -2.0 nats</a:t>
            </a:r>
            <a:br/>
            <a:r>
              <a:t>(Universal across all models!)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F2D3D"/>
                </a:solidFill>
                <a:latin typeface="Microsoft YaHei"/>
              </a:defRPr>
            </a:pPr>
            <a:r>
              <a:t>指标 2: 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1A4F8B"/>
                </a:solidFill>
                <a:latin typeface="Microsoft YaHei"/>
              </a:defRPr>
            </a:pPr>
            <a:r>
              <a:t>Power-Law Exponent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572000" cy="8229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1F2D3D"/>
                </a:solidFill>
                <a:latin typeface="Consolas"/>
              </a:defRPr>
            </a:pPr>
            <a:r>
              <a:t>P(λ) ~ λ⁻ᵅ    (ESD of WᵀW)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400">
                <a:solidFill>
                  <a:srgbClr val="4A5A6B"/>
                </a:solidFill>
                <a:latin typeface="Microsoft YaHei"/>
              </a:defRPr>
            </a:pPr>
            <a:r>
              <a:t>物理含义: 权重矩阵的内部结构质量</a:t>
            </a:r>
          </a:p>
          <a:p>
            <a:pPr>
              <a:lnSpc>
                <a:spcPts val="2200"/>
              </a:lnSpc>
              <a:defRPr sz="1400">
                <a:solidFill>
                  <a:srgbClr val="4A5A6B"/>
                </a:solidFill>
                <a:latin typeface="Microsoft YaHei"/>
              </a:defRPr>
            </a:pPr>
            <a:r>
              <a:t>理论基础: Heavy-Tail Self-Regularization (HTSR)</a:t>
            </a:r>
          </a:p>
          <a:p>
            <a:pPr>
              <a:lnSpc>
                <a:spcPts val="2200"/>
              </a:lnSpc>
              <a:defRPr sz="1400">
                <a:solidFill>
                  <a:srgbClr val="4A5A6B"/>
                </a:solidFill>
                <a:latin typeface="Microsoft YaHei"/>
              </a:defRPr>
            </a:pPr>
            <a:r>
              <a:t>α ↓ = heavy-tail ↑ = 泛化 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4572000" cy="914400"/>
          </a:xfrm>
          <a:prstGeom prst="roundRect">
            <a:avLst/>
          </a:prstGeom>
          <a:solidFill>
            <a:srgbClr val="F5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262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8B2C3A"/>
                </a:solidFill>
                <a:latin typeface="Microsoft YaHei"/>
              </a:defRPr>
            </a:pPr>
            <a:r>
              <a:t>关键发现: α 不是单调下降的——</a:t>
            </a:r>
            <a:br/>
            <a:r>
              <a:t>在大模型上它会反转 (Reversal)！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0" y="1463040"/>
          <a:ext cx="52120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α 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t>&gt;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t>接近 Marchenko-Pastur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67117"/>
                          </a:solidFill>
                          <a:latin typeface="Microsoft YaHei"/>
                        </a:defRPr>
                      </a:pPr>
                      <a:r>
                        <a:t>4 ~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67117"/>
                          </a:solidFill>
                          <a:latin typeface="Microsoft YaHei"/>
                        </a:defRPr>
                      </a:pPr>
                      <a:r>
                        <a:t>Bulk+Spikes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67117"/>
                          </a:solidFill>
                          <a:latin typeface="Microsoft YaHei"/>
                        </a:defRPr>
                      </a:pPr>
                      <a:r>
                        <a:t>部分结构化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2 ~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Heavy-Tail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良好自正则化 ✓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3F7A"/>
                          </a:solidFill>
                          <a:latin typeface="Microsoft YaHei"/>
                        </a:defRPr>
                      </a:pPr>
                      <a:r>
                        <a:t>&lt;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3F7A"/>
                          </a:solidFill>
                          <a:latin typeface="Microsoft YaHei"/>
                        </a:defRPr>
                      </a:pPr>
                      <a:r>
                        <a:t>Over-trained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3F7A"/>
                          </a:solidFill>
                          <a:latin typeface="Microsoft YaHei"/>
                        </a:defRPr>
                      </a:pPr>
                      <a:r>
                        <a:t>Rank collapse 风险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0" y="50292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Martin &amp; Mahoney (JMLR 2021)</a:t>
            </a:r>
            <a:br/>
            <a:r>
              <a:t>训练好的网络层遵循 power-law 分布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F2D3D"/>
                </a:solidFill>
                <a:latin typeface="Microsoft YaHei"/>
              </a:defRPr>
            </a:pPr>
            <a:r>
              <a:t>两个指标的协同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1A4F8B"/>
                </a:solidFill>
                <a:latin typeface="Microsoft YaHei"/>
              </a:defRPr>
            </a:pPr>
            <a:r>
              <a:t>Spectral Phase Portrait</a:t>
            </a:r>
          </a:p>
        </p:txBody>
      </p:sp>
      <p:pic>
        <p:nvPicPr>
          <p:cNvPr id="4" name="Picture 3" descr="fig01_phase_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4981303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t>所有模型在 (SR/d, α) 空间中的训练轨迹。小模型收敛到左下角，大模型停滞在高 α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6B7B8D"/>
                </a:solidFill>
                <a:latin typeface="Consolas"/>
              </a:defRPr>
            </a:pPr>
            <a:r>
              <a:t>PART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8E9CAD"/>
                </a:solidFill>
                <a:latin typeface="Microsoft YaHei"/>
              </a:defRPr>
            </a:pPr>
            <a:r>
              <a:t>Key Findings from 14 Models × 4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发现 1: SR/d 通用收敛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640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t>Universal Convergence</a:t>
            </a:r>
          </a:p>
        </p:txBody>
      </p:sp>
      <p:pic>
        <p:nvPicPr>
          <p:cNvPr id="4" name="Picture 3" descr="fig02_srd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997129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645920"/>
            <a:ext cx="4389120" cy="73152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1F2D3D"/>
                </a:solidFill>
                <a:latin typeface="Consolas"/>
              </a:defRPr>
            </a:pPr>
            <a:r>
              <a:t>SR/d(∞) = 0.040 + 0.61 / √d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74320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300">
                <a:solidFill>
                  <a:srgbClr val="4A5A6B"/>
                </a:solidFill>
                <a:latin typeface="Microsoft YaHei"/>
              </a:defRPr>
            </a:pPr>
            <a:r>
              <a:t>14 个模型全部收敛到 0.04-0.07</a:t>
            </a:r>
          </a:p>
          <a:p>
            <a:pPr>
              <a:lnSpc>
                <a:spcPts val="2000"/>
              </a:lnSpc>
              <a:defRPr sz="1300">
                <a:solidFill>
                  <a:srgbClr val="4A5A6B"/>
                </a:solidFill>
                <a:latin typeface="Microsoft YaHei"/>
              </a:defRPr>
            </a:pPr>
            <a:r>
              <a:t>只由层宽度 d 决定，与深度无关</a:t>
            </a:r>
          </a:p>
          <a:p>
            <a:pPr>
              <a:lnSpc>
                <a:spcPts val="2000"/>
              </a:lnSpc>
              <a:defRPr sz="1300">
                <a:solidFill>
                  <a:srgbClr val="4A5A6B"/>
                </a:solidFill>
                <a:latin typeface="Microsoft YaHei"/>
              </a:defRPr>
            </a:pPr>
            <a:r>
              <a:t>OLMo-2-13B 和 32B (同 d=5120):</a:t>
            </a:r>
            <a:br/>
            <a:r>
              <a:t>  SR/d 完全相同 (0.043)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5029200"/>
            <a:ext cx="4389120" cy="1097280"/>
          </a:xfrm>
          <a:prstGeom prst="roundRect">
            <a:avLst/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516636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2D6A4F"/>
                </a:solidFill>
                <a:latin typeface="Microsoft YaHei"/>
              </a:defRPr>
            </a:pPr>
            <a:r>
              <a:t>通用压缩定律: ΔH₂ = -2.04 ± 0.17 nats</a:t>
            </a:r>
            <a:br/>
            <a:r>
              <a:t>所有 Transformer 精确压缩 ~2 nats 谱熵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发现 2: α Reversal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640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8B2C3A"/>
                </a:solidFill>
                <a:latin typeface="Microsoft YaHei"/>
              </a:defRPr>
            </a:pPr>
            <a:r>
              <a:t>Structural Degradation Signal</a:t>
            </a:r>
          </a:p>
        </p:txBody>
      </p:sp>
      <p:pic>
        <p:nvPicPr>
          <p:cNvPr id="4" name="Picture 3" descr="fig03_alpha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400800" cy="25544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8B2C3A"/>
                </a:solidFill>
                <a:latin typeface="Microsoft YaHei"/>
              </a:defRPr>
            </a:pPr>
            <a:r>
              <a:t>Loss 下降，但结构在退化！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1031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300">
                <a:solidFill>
                  <a:srgbClr val="4A5A6B"/>
                </a:solidFill>
                <a:latin typeface="Microsoft YaHei"/>
              </a:defRPr>
            </a:pPr>
            <a:r>
              <a:t>OLMo-2-13B: α 从 4.25 反转到 6.95 (Δα=+2.71)</a:t>
            </a:r>
          </a:p>
          <a:p>
            <a:pPr>
              <a:lnSpc>
                <a:spcPts val="2000"/>
              </a:lnSpc>
              <a:defRPr sz="1300">
                <a:solidFill>
                  <a:srgbClr val="4A5A6B"/>
                </a:solidFill>
                <a:latin typeface="Microsoft YaHei"/>
              </a:defRPr>
            </a:pPr>
            <a:r>
              <a:t>5/8 大模型展现 reversal，跨架构一致</a:t>
            </a:r>
          </a:p>
          <a:p>
            <a:pPr>
              <a:lnSpc>
                <a:spcPts val="2000"/>
              </a:lnSpc>
              <a:defRPr sz="1300">
                <a:solidFill>
                  <a:srgbClr val="4A5A6B"/>
                </a:solidFill>
                <a:latin typeface="Microsoft YaHei"/>
              </a:defRPr>
            </a:pPr>
            <a:r>
              <a:t>MLP 驱动: α_mlp 上升而 α_attn 稳定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4114800"/>
            <a:ext cx="4572000" cy="18288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42976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7C8A97"/>
                </a:solidFill>
                <a:latin typeface="Consolas"/>
              </a:defRPr>
            </a:pPr>
            <a:r>
              <a:t>直觉 (Intuition)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66344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t>嘈杂环境搭积木: 该学的学完后(手没方向), 噪声把精细结构震坏(α↑)。</a:t>
            </a:r>
            <a:br/>
            <a:r>
              <a:t>降 LR = 减小振动 = 保护结构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发现 3: 预测下游性能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640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t>Predictive Power</a:t>
            </a:r>
          </a:p>
        </p:txBody>
      </p:sp>
      <p:pic>
        <p:nvPicPr>
          <p:cNvPr id="4" name="Picture 3" descr="fig08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041511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1">
                <a:solidFill>
                  <a:srgbClr val="1A4F8B"/>
                </a:solidFill>
                <a:latin typeface="Consolas"/>
              </a:defRPr>
            </a:pPr>
            <a:r>
              <a:t>−0.90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t>Spearman 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1">
                <a:solidFill>
                  <a:srgbClr val="1A4F8B"/>
                </a:solidFill>
                <a:latin typeface="Consolas"/>
              </a:defRPr>
            </a:pPr>
            <a:r>
              <a:t>0.63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t>R² (单变量)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1">
                <a:solidFill>
                  <a:srgbClr val="4A3F7A"/>
                </a:solidFill>
                <a:latin typeface="Consolas"/>
              </a:defRPr>
            </a:pPr>
            <a:r>
              <a:t>0.84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t>R² (+log 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t>N=102 (6 models × 17 checkpoints × 5 benchmarks)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200400"/>
            <a:ext cx="5029200" cy="6400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1F2D3D"/>
                </a:solidFill>
                <a:latin typeface="Consolas"/>
              </a:defRPr>
            </a:pPr>
            <a:r>
              <a:t>Perf ≈ -0.248·log₁₀(SR/d) + 0.062·log₁₀(N) - 0.365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206240"/>
            <a:ext cx="5029200" cy="73152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42976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A4F8B"/>
                </a:solidFill>
                <a:latin typeface="Microsoft YaHei"/>
              </a:defRPr>
            </a:pPr>
            <a:r>
              <a:t>不需要训练/测试数据或 loss，仅从权重</a:t>
            </a:r>
            <a:br/>
            <a:r>
              <a:t>就能预测 84% 的下游方差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发现 4: 结构相变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8B2C3A"/>
                </a:solidFill>
                <a:latin typeface="Microsoft YaHei"/>
              </a:defRPr>
            </a:pPr>
            <a:r>
              <a:t>Phase Transition at N ≈ 1.7B</a:t>
            </a:r>
          </a:p>
        </p:txBody>
      </p:sp>
      <p:pic>
        <p:nvPicPr>
          <p:cNvPr id="4" name="Picture 3" descr="fig07_phase_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583680" cy="26802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389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60020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1F2D3D"/>
                </a:solidFill>
                <a:latin typeface="Microsoft YaHei"/>
              </a:defRPr>
            </a:pPr>
            <a:r>
              <a:t>&lt; 1.7B: α 能降到 &lt;3 (结构成熟)</a:t>
            </a:r>
            <a:br/>
            <a:r>
              <a:t>&gt; 1.7B: α stuck &gt;5 (结构不成熟)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834640"/>
            <a:ext cx="4389120" cy="91440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1F2D3D"/>
                </a:solidFill>
                <a:latin typeface="Consolas"/>
              </a:defRPr>
            </a:pPr>
            <a:r>
              <a:t>α(N) ≈ 2.65 + 2.1 × σ((log₁₀N - 9.23) / 0.07)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383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t>Sigmoid fit R² = 0.97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931920"/>
            <a:ext cx="4389120" cy="9144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40690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967117"/>
                </a:solidFill>
                <a:latin typeface="Microsoft YaHei"/>
              </a:defRPr>
            </a:pPr>
            <a:r>
              <a:t>"大模型难训" 不只是数据量问题</a:t>
            </a:r>
            <a:br/>
            <a:r>
              <a:t>——大模型根本性地更难结构化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发现 5: MLP 是结构瓶颈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640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1A4F8B"/>
                </a:solidFill>
                <a:latin typeface="Microsoft YaHei"/>
              </a:defRPr>
            </a:pPr>
            <a:r>
              <a:t>MLP as Structural Bottleneck</a:t>
            </a:r>
          </a:p>
        </p:txBody>
      </p:sp>
      <p:pic>
        <p:nvPicPr>
          <p:cNvPr id="4" name="Picture 3" descr="fig06_mlp_att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420757" cy="4114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75120" y="1645920"/>
          <a:ext cx="4846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α_attn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α_mlp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Gap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OLMo-2-1B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1.35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3.56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2.21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OLMo-2-32B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3.44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7.59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4.15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Mistral-7B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3.79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9.22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5.43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75120" y="4389120"/>
            <a:ext cx="4846320" cy="73152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4480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A4F8B"/>
                </a:solidFill>
                <a:latin typeface="Microsoft YaHei"/>
              </a:defRPr>
            </a:pPr>
            <a:r>
              <a:t>Attention 已结构化 (α&lt;4)，MLP 仍随机 (α&gt;7)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5303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4A5A6B"/>
                </a:solidFill>
                <a:latin typeface="Microsoft YaHei"/>
              </a:defRPr>
            </a:pPr>
            <a:r>
              <a:t>→ 优先增加 MLP 容量 (更宽 FFN / MoE)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6B7B8D"/>
                </a:solidFill>
                <a:latin typeface="Consolas"/>
              </a:defRPr>
            </a:pPr>
            <a:r>
              <a:t>PART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从诊断到行动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8E9CAD"/>
                </a:solidFill>
                <a:latin typeface="Microsoft YaHei"/>
              </a:defRPr>
            </a:pPr>
            <a:r>
              <a:t>α-Guided Adaptive LR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α-Guided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0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t>Data-Driven LR Decay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114800" cy="64008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1A4F8B"/>
                </a:solidFill>
                <a:latin typeface="Microsoft YaHei"/>
              </a:defRPr>
            </a:pPr>
            <a:r>
              <a:t>每 500 步测量 α (2 层 SVD, ~5s)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7C8A97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4114800" cy="640080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1F2D3D"/>
                </a:solidFill>
                <a:latin typeface="Microsoft YaHei"/>
              </a:defRPr>
            </a:pPr>
            <a:r>
              <a:t>检测: dα/dt &gt; 0 连续 3+ 次?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520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7C8A97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23360"/>
            <a:ext cx="4114800" cy="640080"/>
          </a:xfrm>
          <a:prstGeom prst="roundRect">
            <a:avLst/>
          </a:prstGeom>
          <a:solidFill>
            <a:srgbClr val="F5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8B2C3A"/>
                </a:solidFill>
                <a:latin typeface="Microsoft YaHei"/>
              </a:defRPr>
            </a:pPr>
            <a:r>
              <a:t>触发 LR Decay (linear → η_min)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F2D3D"/>
                </a:solidFill>
                <a:latin typeface="Microsoft YaHei"/>
              </a:defRPr>
            </a:pPr>
            <a:r>
              <a:t>核心优势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9202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400">
                <a:solidFill>
                  <a:srgbClr val="4A5A6B"/>
                </a:solidFill>
                <a:latin typeface="Microsoft YaHei"/>
              </a:defRPr>
            </a:pPr>
            <a:r>
              <a:t>自动适应不同规模: 410M→83%, 1B→74%</a:t>
            </a:r>
          </a:p>
          <a:p>
            <a:pPr>
              <a:lnSpc>
                <a:spcPts val="2200"/>
              </a:lnSpc>
              <a:defRPr sz="1400">
                <a:solidFill>
                  <a:srgbClr val="4A5A6B"/>
                </a:solidFill>
                <a:latin typeface="Microsoft YaHei"/>
              </a:defRPr>
            </a:pPr>
            <a:r>
              <a:t>自动适应不同数据: 无需人工调参</a:t>
            </a:r>
          </a:p>
          <a:p>
            <a:pPr>
              <a:lnSpc>
                <a:spcPts val="2200"/>
              </a:lnSpc>
              <a:defRPr sz="1400">
                <a:solidFill>
                  <a:srgbClr val="4A5A6B"/>
                </a:solidFill>
                <a:latin typeface="Microsoft YaHei"/>
              </a:defRPr>
            </a:pPr>
            <a:r>
              <a:t>信号来自模型自身结构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840480"/>
            <a:ext cx="5029200" cy="201168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7C8A97"/>
                </a:solidFill>
                <a:latin typeface="Consolas"/>
              </a:defRPr>
            </a:pPr>
            <a:r>
              <a:t>理论依据 (Theoretical Basis)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3891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t>α reversal = SGD noise &gt; spectral gap</a:t>
            </a:r>
            <a:br/>
            <a:r>
              <a:t>降 η → noise ∝ η² 下降 → 恢复 SNR &gt; 1</a:t>
            </a:r>
            <a:br/>
            <a:r>
              <a:t>(Wedin's sin-Θ theorem bounds subspace rotation)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实验验证: 410M 3-Way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640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7C8A97"/>
                </a:solidFill>
                <a:latin typeface="Microsoft YaHei"/>
              </a:defRPr>
            </a:pPr>
            <a:r>
              <a:t>FineWeb-Edu, 10B tokens, 2 seeds</a:t>
            </a:r>
          </a:p>
        </p:txBody>
      </p:sp>
      <p:pic>
        <p:nvPicPr>
          <p:cNvPr id="4" name="Picture 3" descr="fig04_3wa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400800" cy="222818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164592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Avg ↑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2.931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2.68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0.459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WSD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2.874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2.47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0.467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latin typeface="Microsoft YaHei"/>
                        </a:defRPr>
                      </a:pPr>
                      <a:r>
                        <a:t>α-Guided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onsolas"/>
                        </a:defRPr>
                      </a:pPr>
                      <a:r>
                        <a:t>2.877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onsolas"/>
                        </a:defRPr>
                      </a:pPr>
                      <a:r>
                        <a:t>2.44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onsolas"/>
                        </a:defRPr>
                      </a:pPr>
                      <a:r>
                        <a:t>0.468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0" y="4114800"/>
            <a:ext cx="13716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1A4F8B"/>
                </a:solidFill>
                <a:latin typeface="Consolas"/>
              </a:defRPr>
            </a:pPr>
            <a:r>
              <a:t>+1.95%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Microsoft YaHei"/>
              </a:defRPr>
            </a:pPr>
            <a:r>
              <a:t>vs Cosine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4114800"/>
            <a:ext cx="13716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1A4F8B"/>
                </a:solidFill>
                <a:latin typeface="Consolas"/>
              </a:defRPr>
            </a:pPr>
            <a:r>
              <a:t>+6.3%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Microsoft YaHei"/>
              </a:defRPr>
            </a:pPr>
            <a:r>
              <a:t>LAMBADA 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4114800"/>
            <a:ext cx="13716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967117"/>
                </a:solidFill>
                <a:latin typeface="Consolas"/>
              </a:defRPr>
            </a:pPr>
            <a:r>
              <a:t>≈ WSD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Microsoft YaHei"/>
              </a:defRPr>
            </a:pPr>
            <a:r>
              <a:t>自动匹配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Scale-Up: 1B 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640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1A4F8B"/>
                </a:solidFill>
                <a:latin typeface="Microsoft YaHei"/>
              </a:defRPr>
            </a:pPr>
            <a:r>
              <a:t>Advantage Amplifies with Scale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SR/d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Avg ↑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2.739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4.05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0.486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WSD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2.701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0.054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onsolas"/>
                        </a:defRPr>
                      </a:pPr>
                      <a:r>
                        <a:t>0.494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latin typeface="Microsoft YaHei"/>
                        </a:defRPr>
                      </a:pPr>
                      <a:r>
                        <a:t>α-Guided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onsolas"/>
                        </a:defRPr>
                      </a:pPr>
                      <a:r>
                        <a:t>2.709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onsolas"/>
                        </a:defRPr>
                      </a:pPr>
                      <a:r>
                        <a:t>3.87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onsolas"/>
                        </a:defRPr>
                      </a:pPr>
                      <a:r>
                        <a:t>0.054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onsolas"/>
                        </a:defRPr>
                      </a:pPr>
                      <a:r>
                        <a:t>0.498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931920"/>
            <a:ext cx="5486400" cy="64008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A4F8B"/>
                </a:solidFill>
                <a:latin typeface="Microsoft YaHei"/>
              </a:defRPr>
            </a:pPr>
            <a:r>
              <a:t>α-Guided 首次明确超越 WSD (+0.98%)，而非仅持平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F2D3D"/>
                </a:solidFill>
                <a:latin typeface="Microsoft YaHei"/>
              </a:defRPr>
            </a:pPr>
            <a:r>
              <a:t>跨规模趋势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828800"/>
          <a:ext cx="4572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对比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410M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1B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α-Guided vs 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+1.95%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+2.56%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α-Guided vs WSD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+0.11%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+0.98%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Decay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74%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LAMBADA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+6.3%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+10.2%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0" y="5029200"/>
            <a:ext cx="4572000" cy="640080"/>
          </a:xfrm>
          <a:prstGeom prst="roundRect">
            <a:avLst/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51206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2D6A4F"/>
                </a:solidFill>
                <a:latin typeface="Microsoft YaHei"/>
              </a:defRPr>
            </a:pPr>
            <a:r>
              <a:t>优势随规模放大: 预计 7B+ 更显著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跨架构验证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640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t>Cross-Architecture Validation</a:t>
            </a:r>
          </a:p>
        </p:txBody>
      </p:sp>
      <p:pic>
        <p:nvPicPr>
          <p:cNvPr id="4" name="Picture 3" descr="fig11_cross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526598" cy="3840480"/>
          </a:xfrm>
          <a:prstGeom prst="rect">
            <a:avLst/>
          </a:prstGeom>
        </p:spPr>
      </p:pic>
      <p:pic>
        <p:nvPicPr>
          <p:cNvPr id="5" name="Picture 4" descr="fig05_srd_vs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5057216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486400"/>
            <a:ext cx="3474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1">
                <a:solidFill>
                  <a:srgbClr val="1F2D3D"/>
                </a:solidFill>
                <a:latin typeface="Microsoft YaHei"/>
              </a:defRPr>
            </a:pPr>
            <a:r>
              <a:t>GPT-NeoX (Pythia)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6 scales, 150 ckpts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5486400"/>
            <a:ext cx="3474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5577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1">
                <a:solidFill>
                  <a:srgbClr val="1F2D3D"/>
                </a:solidFill>
                <a:latin typeface="Microsoft YaHei"/>
              </a:defRPr>
            </a:pPr>
            <a:r>
              <a:t>OLMo-2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5852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4 scales, 100 ckpts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5486400"/>
            <a:ext cx="3474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5577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1">
                <a:solidFill>
                  <a:srgbClr val="1F2D3D"/>
                </a:solidFill>
                <a:latin typeface="Microsoft YaHei"/>
              </a:defRPr>
            </a:pPr>
            <a:r>
              <a:t>Mistral (GQA)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5852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v0.1 + v0.3, Δα &lt; 0.02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谱结构热力图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640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t>Per-Layer Spectral Dynamics</a:t>
            </a:r>
          </a:p>
        </p:txBody>
      </p:sp>
      <p:pic>
        <p:nvPicPr>
          <p:cNvPr id="4" name="Picture 3" descr="fig13_heatmap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09728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6B7B8D"/>
                </a:solidFill>
                <a:latin typeface="Consolas"/>
              </a:defRPr>
            </a:pPr>
            <a:r>
              <a:t>PART 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实践价值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8E9CAD"/>
                </a:solidFill>
                <a:latin typeface="Microsoft YaHei"/>
              </a:defRPr>
            </a:pPr>
            <a:r>
              <a:t>Practical Applications for Pretraining Engineers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训练监控仪表盘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640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1A4F8B"/>
                </a:solidFill>
                <a:latin typeface="Microsoft YaHei"/>
              </a:defRPr>
            </a:pPr>
            <a:r>
              <a:t>Health Monitoring Dashboard</a:t>
            </a:r>
          </a:p>
        </p:txBody>
      </p:sp>
      <p:pic>
        <p:nvPicPr>
          <p:cNvPr id="4" name="Picture 3" descr="fig09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274519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822960"/>
          </a:xfrm>
          <a:prstGeom prst="roundRect">
            <a:avLst/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7373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2D6A4F"/>
                </a:solidFill>
                <a:latin typeface="Microsoft YaHei"/>
              </a:defRPr>
            </a:pPr>
            <a:r>
              <a:t>🟢 HEALTHY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0574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4A5A6B"/>
                </a:solidFill>
                <a:latin typeface="Microsoft YaHei"/>
              </a:defRPr>
            </a:pPr>
            <a:r>
              <a:t>dα/dt &lt; 0 → 继续训练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743200"/>
            <a:ext cx="4572000" cy="82296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8346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967117"/>
                </a:solidFill>
                <a:latin typeface="Microsoft YaHei"/>
              </a:defRPr>
            </a:pPr>
            <a:r>
              <a:t>🟡 PLATEAU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1546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4A5A6B"/>
                </a:solidFill>
                <a:latin typeface="Microsoft YaHei"/>
              </a:defRPr>
            </a:pPr>
            <a:r>
              <a:t>|dα/dt| ≈ 0 → 考虑 decay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840480"/>
            <a:ext cx="4572000" cy="822960"/>
          </a:xfrm>
          <a:prstGeom prst="roundRect">
            <a:avLst/>
          </a:prstGeom>
          <a:solidFill>
            <a:srgbClr val="F5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39319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8B2C3A"/>
                </a:solidFill>
                <a:latin typeface="Microsoft YaHei"/>
              </a:defRPr>
            </a:pPr>
            <a:r>
              <a:t>🔴 REVERSAL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2519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4A5A6B"/>
                </a:solidFill>
                <a:latin typeface="Microsoft YaHei"/>
              </a:defRPr>
            </a:pPr>
            <a:r>
              <a:t>dα/dt &gt; 0 ×3 → 立即降 LR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937759"/>
            <a:ext cx="4572000" cy="8229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502919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F2D3D"/>
                </a:solidFill>
                <a:latin typeface="Microsoft YaHei"/>
              </a:defRPr>
            </a:pPr>
            <a:r>
              <a:t>⚫ EXHAUSTED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534923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4A5A6B"/>
                </a:solidFill>
                <a:latin typeface="Microsoft YaHei"/>
              </a:defRPr>
            </a:pPr>
            <a:r>
              <a:t>α &gt; 4 + ↑ → 需要更多容量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成本: &lt; 0.05% 训练 compute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Post-hoc 模型体检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640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t>5-Minute Model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F2D3D"/>
                </a:solidFill>
                <a:latin typeface="Microsoft YaHei"/>
              </a:defRPr>
            </a:pPr>
            <a:r>
              <a:t>案例: K2-65B 诊断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4572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SR/d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t>偏低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5.09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t>不成熟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Reversal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onsolas"/>
                        </a:defRPr>
                      </a:pPr>
                      <a:r>
                        <a:t>Δα = +0.65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8B2C3A"/>
                          </a:solidFill>
                          <a:latin typeface="Microsoft YaHei"/>
                        </a:defRPr>
                      </a:pPr>
                      <a:r>
                        <a:t>已退化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840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t>诊断: 训练不充分 (only 1.4T tokens, D/N=21)</a:t>
            </a:r>
            <a:br/>
            <a:r>
              <a:t>外部验证: K2 在 15/21 benchmark 低于 Llama-2-70B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4572000" cy="640080"/>
          </a:xfrm>
          <a:prstGeom prst="roundRect">
            <a:avLst/>
          </a:prstGeom>
          <a:solidFill>
            <a:srgbClr val="E6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2D6A4F"/>
                </a:solidFill>
                <a:latin typeface="Microsoft YaHei"/>
              </a:defRPr>
            </a:pPr>
            <a:r>
              <a:t>5 分钟测量 = 跑几天 benchmark 的结论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完整模型审计表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828800"/>
          <a:ext cx="5029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5791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5A6B"/>
                          </a:solidFill>
                          <a:latin typeface="Consolas"/>
                        </a:defRPr>
                      </a:pPr>
                      <a:r>
                        <a:t>SR/d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5A6B"/>
                          </a:solidFill>
                          <a:latin typeface="Consolas"/>
                        </a:defRPr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判定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Pythia-1B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2.78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✅ 成熟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OLMo-2-1B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0.064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2.37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✅ 成熟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OLMo-2-13B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0.043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6.95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❌ 不成熟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OLMo-2-32B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0.043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⚠️ 不成熟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K2-65B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onsolas"/>
                        </a:defRPr>
                      </a:pPr>
                      <a:r>
                        <a:t>5.09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icrosoft YaHei"/>
                        </a:defRPr>
                      </a:pPr>
                      <a:r>
                        <a:t>❌ 严重不足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对预训练的建议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640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1A4F8B"/>
                </a:solidFill>
                <a:latin typeface="Microsoft YaHei"/>
              </a:defRPr>
            </a:pPr>
            <a:r>
              <a:t>Actionable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73152"/>
          </a:xfrm>
          <a:prstGeom prst="roundRect">
            <a:avLst/>
          </a:prstGeom>
          <a:solidFill>
            <a:srgbClr val="1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1A4F8B"/>
                </a:solidFill>
                <a:latin typeface="Microsoft YaHei"/>
              </a:defRPr>
            </a:pPr>
            <a:r>
              <a:t>建议 1: 不用 Cosine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t>Cosine 过早衰减 LR，浪费"结构形成黄金期"。</a:t>
            </a:r>
            <a:br/>
            <a:br/>
            <a:r>
              <a:t>WSD 或 α-Guided 保持高 LR 到 74-83%</a:t>
            </a:r>
            <a:br/>
            <a:r>
              <a:t>→ benchmark +2-2.6%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54480"/>
            <a:ext cx="34747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554480"/>
            <a:ext cx="3474720" cy="73152"/>
          </a:xfrm>
          <a:prstGeom prst="roundRect">
            <a:avLst/>
          </a:prstGeom>
          <a:solidFill>
            <a:srgbClr val="8B2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8B2C3A"/>
                </a:solidFill>
                <a:latin typeface="Microsoft YaHei"/>
              </a:defRPr>
            </a:pPr>
            <a:r>
              <a:t>建议 2: 数据远超 Chinchilla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t>结构成熟需要 15-25× Chinchilla 推荐量</a:t>
            </a:r>
            <a:br/>
            <a:br/>
            <a:r>
              <a:t>1B: ~300B tokens</a:t>
            </a:r>
            <a:br/>
            <a:r>
              <a:t>7B: ~3.5T tokens</a:t>
            </a:r>
            <a:br/>
            <a:r>
              <a:t>13B: 远超 5T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554480"/>
            <a:ext cx="34747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554480"/>
            <a:ext cx="3474720" cy="73152"/>
          </a:xfrm>
          <a:prstGeom prst="roundRect">
            <a:avLst/>
          </a:prstGeom>
          <a:solidFill>
            <a:srgbClr val="1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1A4F8B"/>
                </a:solidFill>
                <a:latin typeface="Microsoft YaHei"/>
              </a:defRPr>
            </a:pPr>
            <a:r>
              <a:t>建议 3: 关注 MLP 容量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2860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t>大模型 Attn 已结构化,</a:t>
            </a:r>
            <a:br/>
            <a:r>
              <a:t>MLP 是瓶颈 (gap 可达 5.4)</a:t>
            </a:r>
            <a:br/>
            <a:br/>
            <a:r>
              <a:t>→ 更宽 FFN / MoE 增加 MLP 容量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77840"/>
            <a:ext cx="10515600" cy="73152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1A4F8B"/>
                </a:solidFill>
                <a:latin typeface="Microsoft YaHei"/>
              </a:defRPr>
            </a:pPr>
            <a:r>
              <a:t>总结: 发布前 5 分钟谱体检 — SR/d 接近 0.040 + 0.61/√d 且 α &lt; 4 → 训练充分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与现有方法对比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640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1A4F8B"/>
                </a:solidFill>
                <a:latin typeface="Microsoft YaHei"/>
              </a:defRPr>
            </a:pPr>
            <a:r>
              <a:t>Comparison with Existing Methods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62701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WeightWatcher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Scaling Laws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5A6B"/>
                          </a:solidFill>
                          <a:latin typeface="Microsoft YaHei"/>
                        </a:defRPr>
                      </a:pPr>
                      <a:r>
                        <a:t>Ours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实时监控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 (post-hoc)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跨模型可比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检测结构退化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✓ (α reversal)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预测下游性能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部分 (r~0.7)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仅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ρ=-0.90, R²=0.84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指导训练决策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仅数据量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✓ (+2.56% @1B)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开销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分钟级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4F8B"/>
                          </a:solidFill>
                          <a:latin typeface="Microsoft YaHei"/>
                        </a:defRPr>
                      </a:pPr>
                      <a:r>
                        <a:t>&lt;0.05% compute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6035040"/>
            <a:ext cx="10515600" cy="5486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A4F8B"/>
                </a:solidFill>
                <a:latin typeface="Microsoft YaHei"/>
              </a:defRPr>
            </a:pPr>
            <a:r>
              <a:t>首次将 post-hoc 谱分析升级为实时训练指导工具，且在预测精度和可操作性上全面超越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理论基础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640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t>Theoretical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信息论恒等式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73152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1F2D3D"/>
                </a:solidFill>
                <a:latin typeface="Consolas"/>
              </a:defRPr>
            </a:pPr>
            <a:r>
              <a:t>SR(W) = exp(H₂) = 1 / Σ pᵢ²</a:t>
            </a:r>
            <a:br/>
            <a:r>
              <a:t>where pᵢ = σᵢ² / ||W||²F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α Reversal 的 SNR 解释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5029200" cy="73152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1F2D3D"/>
                </a:solidFill>
                <a:latin typeface="Consolas"/>
              </a:defRPr>
            </a:pPr>
            <a:r>
              <a:t>SNR(t) = ||E[∇L]||² / Var[∇L]</a:t>
            </a:r>
            <a:br/>
            <a:r>
              <a:t>α reversal ⟺ SNR(t)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t>降 η 使 noise ∝ η² ↓ → 恢复 SNR &gt;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Wedin 子空间稳定性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1F2D3D"/>
                </a:solidFill>
                <a:latin typeface="Consolas"/>
              </a:defRPr>
            </a:pPr>
            <a:r>
              <a:t>||sinΘ(Uk, U'k)|| ≤ η·||∇L|| / γk(W)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4A5A6B"/>
                </a:solidFill>
                <a:latin typeface="Microsoft YaHei"/>
              </a:defRPr>
            </a:pPr>
            <a:r>
              <a:t>α-guided 在 γk 缩小时减小 η → 最小化子空间旋转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Langevin 动力学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5029200" cy="10972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9319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1F2D3D"/>
                </a:solidFill>
                <a:latin typeface="Consolas"/>
              </a:defRPr>
            </a:pPr>
            <a:r>
              <a:t>SGD = 梯度下降 + 有效温度扩散:</a:t>
            </a:r>
            <a:br/>
            <a:r>
              <a:t>dσᵢ = -η ∂L/∂σᵢ dt + √(2ηTeff) dBᵢ</a:t>
            </a:r>
            <a:br/>
            <a:r>
              <a:t>Higher Teff → spectrum blurs → α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1F2D3D"/>
                </a:solidFill>
                <a:latin typeface="Microsoft YaHei"/>
              </a:defRPr>
            </a:pPr>
            <a:r>
              <a:t>总结与贡献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640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1A4F8B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四个层次的贡献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300">
                <a:solidFill>
                  <a:srgbClr val="4A5A6B"/>
                </a:solidFill>
                <a:latin typeface="Microsoft YaHei"/>
              </a:defRPr>
            </a:pPr>
            <a:r>
              <a:t>描述性 (Descriptive): SR/d 通用收敛 + α reversal</a:t>
            </a:r>
          </a:p>
          <a:p>
            <a:pPr>
              <a:lnSpc>
                <a:spcPts val="2000"/>
              </a:lnSpc>
              <a:defRPr sz="1300">
                <a:solidFill>
                  <a:srgbClr val="4A5A6B"/>
                </a:solidFill>
                <a:latin typeface="Microsoft YaHei"/>
              </a:defRPr>
            </a:pPr>
            <a:r>
              <a:t>预测性 (Predictive): 仅从权重预测 84% 下游方差</a:t>
            </a:r>
          </a:p>
          <a:p>
            <a:pPr>
              <a:lnSpc>
                <a:spcPts val="2000"/>
              </a:lnSpc>
              <a:defRPr sz="1300">
                <a:solidFill>
                  <a:srgbClr val="4A5A6B"/>
                </a:solidFill>
                <a:latin typeface="Microsoft YaHei"/>
              </a:defRPr>
            </a:pPr>
            <a:r>
              <a:t>指导性 (Prescriptive): α-guided +2.56% @ 1B</a:t>
            </a:r>
          </a:p>
          <a:p>
            <a:pPr>
              <a:lnSpc>
                <a:spcPts val="2000"/>
              </a:lnSpc>
              <a:defRPr sz="1300">
                <a:solidFill>
                  <a:srgbClr val="4A5A6B"/>
                </a:solidFill>
                <a:latin typeface="Microsoft YaHei"/>
              </a:defRPr>
            </a:pPr>
            <a:r>
              <a:t>诊断性 (Diagnostic): 5 min post-hoc 模型审计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5029200" cy="18288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7C8A97"/>
                </a:solidFill>
                <a:latin typeface="Microsoft YaHei"/>
              </a:defRPr>
            </a:pPr>
            <a:r>
              <a:t>科学意义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200">
                <a:solidFill>
                  <a:srgbClr val="4A5A6B"/>
                </a:solidFill>
                <a:latin typeface="Microsoft YaHei"/>
              </a:defRPr>
            </a:pPr>
            <a:r>
              <a:t>通用压缩定律: ΔH₂ ≈ -2 nats</a:t>
            </a:r>
          </a:p>
          <a:p>
            <a:pPr>
              <a:lnSpc>
                <a:spcPts val="1900"/>
              </a:lnSpc>
              <a:defRPr sz="1200">
                <a:solidFill>
                  <a:srgbClr val="4A5A6B"/>
                </a:solidFill>
                <a:latin typeface="Microsoft YaHei"/>
              </a:defRPr>
            </a:pPr>
            <a:r>
              <a:t>结构相变: N ≈ 1.7B 阈值</a:t>
            </a:r>
          </a:p>
          <a:p>
            <a:pPr>
              <a:lnSpc>
                <a:spcPts val="1900"/>
              </a:lnSpc>
              <a:defRPr sz="1200">
                <a:solidFill>
                  <a:srgbClr val="4A5A6B"/>
                </a:solidFill>
                <a:latin typeface="Microsoft YaHei"/>
              </a:defRPr>
            </a:pPr>
            <a:r>
              <a:t>Loss ≠ Quality 的直接证据</a:t>
            </a:r>
          </a:p>
          <a:p>
            <a:pPr>
              <a:lnSpc>
                <a:spcPts val="1900"/>
              </a:lnSpc>
              <a:defRPr sz="1200">
                <a:solidFill>
                  <a:srgbClr val="4A5A6B"/>
                </a:solidFill>
                <a:latin typeface="Microsoft YaHei"/>
              </a:defRPr>
            </a:pPr>
            <a:r>
              <a:t>SR = exp(H₂) 严格桥梁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2286000" cy="1280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3000" b="1">
                <a:solidFill>
                  <a:srgbClr val="1A4F8B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286000" cy="1280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783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3000" b="1">
                <a:solidFill>
                  <a:srgbClr val="1A4F8B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Architectures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291840"/>
            <a:ext cx="2286000" cy="1280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429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3000" b="1">
                <a:solidFill>
                  <a:srgbClr val="1A4F8B"/>
                </a:solidFill>
                <a:latin typeface="Consolas"/>
              </a:defRPr>
            </a:pPr>
            <a:r>
              <a:t>~340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Checkpoints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3291840"/>
            <a:ext cx="2286000" cy="1280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3429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3000" b="1">
                <a:solidFill>
                  <a:srgbClr val="1A4F8B"/>
                </a:solidFill>
                <a:latin typeface="Consolas"/>
              </a:defRPr>
            </a:pPr>
            <a:r>
              <a:t>930×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7C8A97"/>
                </a:solidFill>
                <a:latin typeface="Microsoft YaHei"/>
              </a:defRPr>
            </a:pPr>
            <a:r>
              <a:t>Scale Range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120640"/>
            <a:ext cx="48463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257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1A4F8B"/>
                </a:solidFill>
                <a:latin typeface="Microsoft YaHei"/>
              </a:defRPr>
            </a:pPr>
            <a:r>
              <a:t>Target: NeurIPS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669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7C8A97"/>
                </a:solidFill>
                <a:latin typeface="Microsoft YaHei"/>
              </a:defRPr>
            </a:pPr>
            <a:r>
              <a:t>14 publication-quality figures</a:t>
            </a:r>
            <a:br/>
            <a:r>
              <a:t>38 citations in Related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00"/>
              </a:lnSpc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8E9CAD"/>
                </a:solidFill>
                <a:latin typeface="Microsoft YaHei"/>
              </a:defRPr>
            </a:pPr>
            <a:r>
              <a:t>Beyond Loss Curves: Spectral Monitoring for LLM Pretraining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8E9CAD"/>
                </a:solidFill>
                <a:latin typeface="Microsoft YaHei"/>
              </a:defRPr>
            </a:pPr>
            <a:r>
              <a:t>仅从权重矩阵的谱结构，就能诊断训练健康度、预测下游性能、</a:t>
            </a:r>
            <a:br/>
            <a:r>
              <a:t>指导 LR 决策——成本 &lt;0.05% 训练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6B7B8D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7C8A97"/>
                </a:solidFill>
                <a:latin typeface="Consolas"/>
              </a:defRPr>
            </a:pPr>
            <a: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