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DF3"/>
                </a:solidFill>
              </a:defRPr>
            </a:pPr>
            <a:r>
              <a:t>Beyond Loss Curves: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FACFE"/>
                </a:solidFill>
              </a:defRPr>
            </a:pPr>
            <a:r>
              <a:t>Thermodynamics of Pretraining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99AA"/>
                </a:solidFill>
              </a:defRPr>
            </a:pPr>
            <a:r>
              <a:t>Physics-grounded spectral diagnostics for LLM pretraining monitoring</a:t>
            </a:r>
            <a:br/>
            <a:r>
              <a:t>12 Models | 3 Architectures | 70M-65B | ~250 Checkpoints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72B6"/>
                </a:solidFill>
              </a:defRPr>
            </a:pPr>
            <a:r>
              <a:t>The $500M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E8EDF3"/>
                </a:solidFill>
              </a:defRPr>
            </a:pPr>
            <a:r>
              <a:t>Training a frontier LLM: $100-500M, months on thousands of GPUs.</a:t>
            </a:r>
          </a:p>
          <a:p>
            <a:pPr>
              <a:spcAft>
                <a:spcPts val="300"/>
              </a:spcAft>
              <a:defRPr sz="1400" b="0">
                <a:solidFill>
                  <a:srgbClr val="E8EDF3"/>
                </a:solidFill>
              </a:defRPr>
            </a:pPr>
            <a:r>
              <a:t>The ONLY real-time diagnostic: training loss.</a:t>
            </a:r>
          </a:p>
          <a:p>
            <a:pPr>
              <a:spcAft>
                <a:spcPts val="300"/>
              </a:spcAft>
              <a:defRPr sz="14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E8EDF3"/>
                </a:solidFill>
              </a:defRPr>
            </a:pPr>
            <a:r>
              <a:t>But loss CANNOT tell you:</a:t>
            </a:r>
          </a:p>
          <a:p>
            <a:pPr>
              <a:spcAft>
                <a:spcPts val="300"/>
              </a:spcAft>
              <a:defRPr sz="1400" b="0">
                <a:solidFill>
                  <a:srgbClr val="8899AA"/>
                </a:solidFill>
              </a:defRPr>
            </a:pPr>
            <a:r>
              <a:t>  - Is structure forming or degrading? (memorization vs learning)</a:t>
            </a:r>
          </a:p>
          <a:p>
            <a:pPr>
              <a:spcAft>
                <a:spcPts val="300"/>
              </a:spcAft>
              <a:defRPr sz="1400" b="0">
                <a:solidFill>
                  <a:srgbClr val="8899AA"/>
                </a:solidFill>
              </a:defRPr>
            </a:pPr>
            <a:r>
              <a:t>  - When should I decay the LR? (arbitrary schedules)</a:t>
            </a:r>
          </a:p>
          <a:p>
            <a:pPr>
              <a:spcAft>
                <a:spcPts val="300"/>
              </a:spcAft>
              <a:defRPr sz="1400" b="0">
                <a:solidFill>
                  <a:srgbClr val="8899AA"/>
                </a:solidFill>
              </a:defRPr>
            </a:pPr>
            <a:r>
              <a:t>  - Is this model structurally ready? (no cross-model comparison)</a:t>
            </a:r>
          </a:p>
          <a:p>
            <a:pPr>
              <a:spcAft>
                <a:spcPts val="300"/>
              </a:spcAft>
              <a:defRPr sz="1400" b="0">
                <a:solidFill>
                  <a:srgbClr val="8899AA"/>
                </a:solidFill>
              </a:defRPr>
            </a:pPr>
            <a:r>
              <a:t>  - Are there hidden pathologies? (no early warning)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2B6"/>
                </a:solidFill>
              </a:defRPr>
            </a:pPr>
            <a:r>
              <a:t>Piloting a $500M aircraft</a:t>
            </a:r>
            <a:br/>
            <a:r>
              <a:t>with nothing but an altimeter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</a:defRPr>
            </a:pPr>
            <a:r>
              <a:t>Two Spectral Metrics = Complete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F2FE"/>
                </a:solidFill>
              </a:defRPr>
            </a:pPr>
            <a:r>
              <a:t>SR/d (Stable Rank / Hidden Dim)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Compression progress: how much capacity is used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SR = exp(Renyi-2 entropy) -- mathematical identity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Init ~40% -&gt; Trained ~5%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78BFA"/>
                </a:solidFill>
              </a:defRPr>
            </a:pPr>
            <a:r>
              <a:t>alpha (Power-Law Exponent)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Structural quality: heavy-tail = well-organized features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alpha &gt; 6: random | [4,6]: partial | [2,4]: mature | &lt;2: collapse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4FACFE"/>
                </a:solidFill>
              </a:defRPr>
            </a:pPr>
            <a:r>
              <a:t>Key: This is NOT analogy -- it IS thermodynamics.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Cost: &lt;0.05% of training compute.</a:t>
            </a:r>
          </a:p>
        </p:txBody>
      </p:sp>
      <p:pic>
        <p:nvPicPr>
          <p:cNvPr id="4" name="Picture 3" descr="fig01_phas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43414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DF3"/>
                </a:solidFill>
              </a:defRPr>
            </a:pPr>
            <a:r>
              <a:t>Five Key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ACFE"/>
                </a:solidFill>
              </a:defRPr>
            </a:pPr>
            <a:r>
              <a:t>P1: Universal Compression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SR/d = 0.040 + 0.61/sqrt(d), Delta_H2 = -2 nats universally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P2: Performance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r = -0.92 with downstream benchmarks (N=102, p&lt;1e-41)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</a:defRPr>
            </a:pPr>
            <a:r>
              <a:t>P3: alpha Reversal = Degradation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5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Invisible to loss. 13B shows largest reversal (Delta_alpha = +2.71)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P4: Adaptive LR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alpha-Guided matches WSD, +1.95% benchmark vs cosine, zero hyperparams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P5: Post-hoc Training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5-min measurement diagnoses K2-65B -- validated by external benchmarks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Experimental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F82"/>
                </a:solidFill>
              </a:defRPr>
            </a:pPr>
            <a:r>
              <a:t>12 Models | 930x scale | 3 architectures | GPT-NeoX + LLaMA + OLMo2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5C6F82"/>
                </a:solidFill>
              </a:defRPr>
            </a:pPr>
            <a:r>
              <a:t>Model         Arch      d     Params  D/N    SR/d   alpha  Status</a:t>
            </a:r>
          </a:p>
          <a:p>
            <a:pPr>
              <a:spcAft>
                <a:spcPts val="300"/>
              </a:spcAft>
              <a:defRPr sz="1000" b="0">
                <a:solidFill>
                  <a:srgbClr val="34D399"/>
                </a:solidFill>
              </a:defRPr>
            </a:pPr>
            <a:r>
              <a:t>Pythia-70M    GPT-NeoX  512   70M     4261   0.074  2.60   Mature</a:t>
            </a:r>
          </a:p>
          <a:p>
            <a:pPr>
              <a:spcAft>
                <a:spcPts val="300"/>
              </a:spcAft>
              <a:defRPr sz="1000" b="0">
                <a:solidFill>
                  <a:srgbClr val="34D399"/>
                </a:solidFill>
              </a:defRPr>
            </a:pPr>
            <a:r>
              <a:t>Pythia-1B     GPT-NeoX  2048  1.0B    297    0.050  2.78   Mature</a:t>
            </a:r>
          </a:p>
          <a:p>
            <a:pPr>
              <a:spcAft>
                <a:spcPts val="300"/>
              </a:spcAft>
              <a:defRPr sz="1000" b="0">
                <a:solidFill>
                  <a:srgbClr val="FBBF24"/>
                </a:solidFill>
              </a:defRPr>
            </a:pPr>
            <a:r>
              <a:t>Pythia-6.9B   GPT-NeoX  4096  6.9B    44     0.046  5.13   Immature</a:t>
            </a:r>
          </a:p>
          <a:p>
            <a:pPr>
              <a:spcAft>
                <a:spcPts val="300"/>
              </a:spcAft>
              <a:defRPr sz="1000" b="0">
                <a:solidFill>
                  <a:srgbClr val="F472B6"/>
                </a:solidFill>
              </a:defRPr>
            </a:pPr>
            <a:r>
              <a:t>OLMo-2-13B   OLMo2     5120  13B     365    0.043  6.95   Degrading</a:t>
            </a:r>
          </a:p>
          <a:p>
            <a:pPr>
              <a:spcAft>
                <a:spcPts val="300"/>
              </a:spcAft>
              <a:defRPr sz="1000" b="0">
                <a:solidFill>
                  <a:srgbClr val="FBBF24"/>
                </a:solidFill>
              </a:defRPr>
            </a:pPr>
            <a:r>
              <a:t>OLMo-2-32B   OLMo2     5120  32B     189    0.043  5.25   Immature</a:t>
            </a:r>
          </a:p>
          <a:p>
            <a:pPr>
              <a:spcAft>
                <a:spcPts val="300"/>
              </a:spcAft>
              <a:defRPr sz="1000" b="0">
                <a:solidFill>
                  <a:srgbClr val="F472B6"/>
                </a:solidFill>
              </a:defRPr>
            </a:pPr>
            <a:r>
              <a:t>K2-65B        LLaMA     8192  65B     21     0.036  5.09   Insufficient</a:t>
            </a:r>
          </a:p>
          <a:p>
            <a:pPr>
              <a:spcAft>
                <a:spcPts val="300"/>
              </a:spcAft>
              <a:defRPr sz="1000" b="0">
                <a:solidFill>
                  <a:srgbClr val="FBBF24"/>
                </a:solidFill>
              </a:defRPr>
            </a:pPr>
            <a:r>
              <a:t>Mistral-7B    Mistral   4096  7.2B    ~1100  0.040  6.13   MLP immature</a:t>
            </a:r>
          </a:p>
        </p:txBody>
      </p:sp>
      <p:pic>
        <p:nvPicPr>
          <p:cNvPr id="5" name="Picture 4" descr="fig08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61618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P1: Universal Compression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2FE"/>
                </a:solidFill>
              </a:defRPr>
            </a:pPr>
            <a:r>
              <a:t>SR/d = 0.040 + 0.61 / sqrt(d)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Determined by hidden dim d alone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Independent of depth, params, training budget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8EDF3"/>
                </a:solidFill>
              </a:defRPr>
            </a:pPr>
            <a:r>
              <a:t>Key test: OLMo-2-13B vs 32B</a:t>
            </a:r>
          </a:p>
          <a:p>
            <a:pPr>
              <a:spcAft>
                <a:spcPts val="300"/>
              </a:spcAft>
              <a:defRPr sz="1300" b="0">
                <a:solidFill>
                  <a:srgbClr val="34D399"/>
                </a:solidFill>
              </a:defRPr>
            </a:pPr>
            <a:r>
              <a:t>  Same d=5120, different depth -&gt; identical SR/d=0.043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8EDF3"/>
                </a:solidFill>
              </a:defRPr>
            </a:pPr>
            <a:r>
              <a:t>Hold-out: Mistral-7B (GQA, unseen arch)</a:t>
            </a:r>
          </a:p>
          <a:p>
            <a:pPr>
              <a:spcAft>
                <a:spcPts val="300"/>
              </a:spcAft>
              <a:defRPr sz="1300" b="0">
                <a:solidFill>
                  <a:srgbClr val="34D399"/>
                </a:solidFill>
              </a:defRPr>
            </a:pPr>
            <a:r>
              <a:t>  Square-layer SR/d = 0.040, matches prediction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4FACFE"/>
                </a:solidFill>
              </a:defRPr>
            </a:pPr>
            <a:r>
              <a:t>Delta_H2 = -2.0 nats universally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Training erases 87% of initial random degrees of freedom</a:t>
            </a:r>
          </a:p>
        </p:txBody>
      </p:sp>
      <p:pic>
        <p:nvPicPr>
          <p:cNvPr id="5" name="Picture 4" descr="fig05_srd_vs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3973527" cy="3017520"/>
          </a:xfrm>
          <a:prstGeom prst="rect">
            <a:avLst/>
          </a:prstGeom>
        </p:spPr>
      </p:pic>
      <p:pic>
        <p:nvPicPr>
          <p:cNvPr id="6" name="Picture 5" descr="fig10_com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57600"/>
            <a:ext cx="375995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P3: alpha Reversal -- Invisible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472B6"/>
                </a:solidFill>
              </a:defRPr>
            </a:pPr>
            <a:r>
              <a:t>When d_alpha/dt &gt; 0: structure is DEGRADING</a:t>
            </a:r>
          </a:p>
          <a:p>
            <a:pPr>
              <a:spcAft>
                <a:spcPts val="300"/>
              </a:spcAft>
              <a:defRPr sz="1200" b="0">
                <a:solidFill>
                  <a:srgbClr val="F472B6"/>
                </a:solidFill>
              </a:defRPr>
            </a:pPr>
            <a:r>
              <a:t>Even while loss keeps decreasing!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5C6F82"/>
                </a:solidFill>
              </a:defRPr>
            </a:pPr>
            <a:r>
              <a:t>Model         D/N   a_min  a_final  Delta_a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</a:defRPr>
            </a:pPr>
            <a:r>
              <a:t>Pythia-70M    4261  2.60   2.60     0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</a:defRPr>
            </a:pPr>
            <a:r>
              <a:t>Pythia-1B     297   2.52   2.78     +0.26</a:t>
            </a:r>
          </a:p>
          <a:p>
            <a:pPr>
              <a:spcAft>
                <a:spcPts val="300"/>
              </a:spcAft>
              <a:defRPr sz="1200" b="0">
                <a:solidFill>
                  <a:srgbClr val="FBBF24"/>
                </a:solidFill>
              </a:defRPr>
            </a:pPr>
            <a:r>
              <a:t>Pythia-2.8B   108   4.71   5.16     +0.45</a:t>
            </a:r>
          </a:p>
          <a:p>
            <a:pPr>
              <a:spcAft>
                <a:spcPts val="300"/>
              </a:spcAft>
              <a:defRPr sz="1200" b="0">
                <a:solidFill>
                  <a:srgbClr val="F472B6"/>
                </a:solidFill>
              </a:defRPr>
            </a:pPr>
            <a:r>
              <a:t>OLMo-2-32B   189   2.90   5.25     +2.35</a:t>
            </a:r>
          </a:p>
          <a:p>
            <a:pPr>
              <a:spcAft>
                <a:spcPts val="300"/>
              </a:spcAft>
              <a:defRPr sz="1200" b="0">
                <a:solidFill>
                  <a:srgbClr val="F472B6"/>
                </a:solidFill>
              </a:defRPr>
            </a:pPr>
            <a:r>
              <a:t>OLMo-2-13B   365   4.25   6.95     +2.71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472B6"/>
                </a:solidFill>
              </a:defRPr>
            </a:pPr>
            <a:r>
              <a:t>32B entered heavy-tail (a=2.9) then REVERSED OUT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  <a:r>
              <a:t>Bigger models are MORE fragile, not less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  <a:r>
              <a:t>MLP/Attn gap reaches 5.4 at Mistral scale</a:t>
            </a:r>
          </a:p>
        </p:txBody>
      </p:sp>
      <p:pic>
        <p:nvPicPr>
          <p:cNvPr id="4" name="Picture 3" descr="fig03_alpha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7561098" cy="3017520"/>
          </a:xfrm>
          <a:prstGeom prst="rect">
            <a:avLst/>
          </a:prstGeom>
        </p:spPr>
      </p:pic>
      <p:pic>
        <p:nvPicPr>
          <p:cNvPr id="5" name="Picture 4" descr="fig06_mlp_att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57600"/>
            <a:ext cx="38547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P4: alpha-Guided Adaptive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C6F82"/>
                </a:solidFill>
              </a:defRPr>
            </a:pPr>
            <a:r>
              <a:t>Pythia-410M | FineWeb-Edu | 9.9B tokens | 2 seeds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5C6F82"/>
                </a:solidFill>
              </a:defRPr>
            </a:pPr>
            <a:r>
              <a:t>Schedule      Loss      alpha    Decay at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  <a:r>
              <a:t>Cosine        2.913     2.683    Step 500 (6%)</a:t>
            </a:r>
          </a:p>
          <a:p>
            <a:pPr>
              <a:spcAft>
                <a:spcPts val="300"/>
              </a:spcAft>
              <a:defRPr sz="1200" b="0">
                <a:solidFill>
                  <a:srgbClr val="4FACFE"/>
                </a:solidFill>
              </a:defRPr>
            </a:pPr>
            <a:r>
              <a:t>WSD           2.855     2.472    Step 7200 (80%)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</a:defRPr>
            </a:pPr>
            <a:r>
              <a:t>alpha-Guided  2.859     2.442    Step 7500 (83%)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34D399"/>
                </a:solidFill>
              </a:defRPr>
            </a:pPr>
            <a:r>
              <a:t>Delta vs Cosine: -0.054 loss, -0.24 alpha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E8EDF3"/>
                </a:solidFill>
              </a:defRPr>
            </a:pPr>
            <a:r>
              <a:t>Downstream (5 benchmarks, 0-shot):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</a:defRPr>
            </a:pPr>
            <a:r>
              <a:t>  alpha-Guided vs Cosine: +1.95%</a:t>
            </a:r>
          </a:p>
          <a:p>
            <a:pPr>
              <a:spcAft>
                <a:spcPts val="300"/>
              </a:spcAft>
              <a:defRPr sz="1200" b="0">
                <a:solidFill>
                  <a:srgbClr val="34D399"/>
                </a:solidFill>
              </a:defRPr>
            </a:pPr>
            <a:r>
              <a:t>  LAMBADA improvement: +6.3%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  <a:r>
              <a:t>  alpha-Guided vs WSD: +0.11% (equivalent)</a:t>
            </a:r>
          </a:p>
          <a:p>
            <a:pPr>
              <a:spcAft>
                <a:spcPts val="300"/>
              </a:spcAft>
              <a:defRPr sz="12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4FACFE"/>
                </a:solidFill>
              </a:defRPr>
            </a:pPr>
            <a:r>
              <a:t>= WSD performance with ZERO schedule hyperparameters</a:t>
            </a:r>
          </a:p>
        </p:txBody>
      </p:sp>
      <p:pic>
        <p:nvPicPr>
          <p:cNvPr id="4" name="Picture 3" descr="fig04_3wa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8668274" cy="3017520"/>
          </a:xfrm>
          <a:prstGeom prst="rect">
            <a:avLst/>
          </a:prstGeom>
        </p:spPr>
      </p:pic>
      <p:pic>
        <p:nvPicPr>
          <p:cNvPr id="5" name="Picture 4" descr="fig09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57600"/>
            <a:ext cx="273569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Phase Transition at N ~ 1.7B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4D399"/>
                </a:solidFill>
              </a:defRPr>
            </a:pPr>
            <a:r>
              <a:t>N &lt;= 1B: easily reach alpha &lt; 3 (mature)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Regardless of training budget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472B6"/>
                </a:solidFill>
              </a:defRPr>
            </a:pPr>
            <a:r>
              <a:t>N &gt; 1.7B: stuck at alpha &gt; 5 (immature)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Even with D/N = 365 tokens/param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4FACFE"/>
                </a:solidFill>
              </a:defRPr>
            </a:pPr>
            <a:r>
              <a:t>Sigmoid fit: R-squared = 0.97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8EDF3"/>
                </a:solidFill>
              </a:defRPr>
            </a:pPr>
            <a:r>
              <a:t>Implications: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Chinchilla (D/N=20) -&gt; alpha~5.8 (immature)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Structural maturity requires D/N &gt;= 500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Larger models need MORE tokens/param, not fewer</a:t>
            </a:r>
          </a:p>
          <a:p>
            <a:pPr>
              <a:spcAft>
                <a:spcPts val="300"/>
              </a:spcAft>
              <a:defRPr sz="1300" b="0">
                <a:solidFill>
                  <a:srgbClr val="FBBF24"/>
                </a:solidFill>
              </a:defRPr>
            </a:pPr>
            <a:r>
              <a:t>  Frontier models may be systematically undertrained</a:t>
            </a:r>
          </a:p>
        </p:txBody>
      </p:sp>
      <p:pic>
        <p:nvPicPr>
          <p:cNvPr id="4" name="Picture 3" descr="fig07_phas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7412113" cy="3017520"/>
          </a:xfrm>
          <a:prstGeom prst="rect">
            <a:avLst/>
          </a:prstGeom>
        </p:spPr>
      </p:pic>
      <p:pic>
        <p:nvPicPr>
          <p:cNvPr id="5" name="Picture 4" descr="fig11_cross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57600"/>
            <a:ext cx="3448837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</a:defRPr>
            </a:pPr>
            <a:r>
              <a:t>Per-Layer Spectral Heatmap</a:t>
            </a:r>
          </a:p>
        </p:txBody>
      </p:sp>
      <p:pic>
        <p:nvPicPr>
          <p:cNvPr id="3" name="Picture 2" descr="fig13_heatmap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71998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E8EDF3"/>
                </a:solidFill>
              </a:defRPr>
            </a:pPr>
            <a:r>
              <a:t>Loss tells you how well the model FITS the data.</a:t>
            </a:r>
          </a:p>
          <a:p>
            <a:pPr>
              <a:spcAft>
                <a:spcPts val="300"/>
              </a:spcAft>
              <a:defRPr sz="1300" b="0">
                <a:solidFill>
                  <a:srgbClr val="E8EDF3"/>
                </a:solidFill>
              </a:defRPr>
            </a:pPr>
            <a:r>
              <a:t>Spectral metrics tell you how well it</a:t>
            </a:r>
          </a:p>
          <a:p>
            <a:pPr>
              <a:spcAft>
                <a:spcPts val="300"/>
              </a:spcAft>
              <a:defRPr sz="1300" b="1">
                <a:solidFill>
                  <a:srgbClr val="4FACFE"/>
                </a:solidFill>
              </a:defRPr>
            </a:pPr>
            <a:r>
              <a:t>ORGANIZED ITSELF to generalize.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4FACFE"/>
                </a:solidFill>
              </a:defRPr>
            </a:pPr>
            <a:r>
              <a:t>Key Takeaways: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Universal compression: SR/d = f(d)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alpha reversal = invisible degradation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alpha-Guided = WSD without tuning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5-min post-hoc audit tool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  <a:r>
              <a:t>  MLP is the structural bottleneck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Overhead: &lt;0.05% of training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058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8EDF3"/>
                </a:solidFill>
              </a:defRPr>
            </a:pPr>
            <a:r>
              <a:t>In Progress: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34D399"/>
                </a:solidFill>
              </a:defRPr>
            </a:pPr>
            <a:r>
              <a:t>  1B Scale-Up (running now)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  Validate at 2.5x larger scale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4FACFE"/>
                </a:solidFill>
              </a:defRPr>
            </a:pPr>
            <a:r>
              <a:t>  Causality Experiment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  Fork at reversal: obey vs ignore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A78BFA"/>
                </a:solidFill>
              </a:defRPr>
            </a:pPr>
            <a:r>
              <a:t>  More architectures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  Gemma-2-9B, Llama-3-8B</a:t>
            </a:r>
          </a:p>
          <a:p>
            <a:pPr>
              <a:spcAft>
                <a:spcPts val="300"/>
              </a:spcAft>
              <a:defRPr sz="1300" b="0">
                <a:solidFill>
                  <a:srgbClr val="8899AA"/>
                </a:solidFill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FBBF24"/>
                </a:solidFill>
              </a:defRPr>
            </a:pPr>
            <a:r>
              <a:t>  MoE extension</a:t>
            </a:r>
          </a:p>
          <a:p>
            <a:pPr>
              <a:spcAft>
                <a:spcPts val="300"/>
              </a:spcAft>
              <a:defRPr sz="1300" b="0">
                <a:solidFill>
                  <a:srgbClr val="5C6F82"/>
                </a:solidFill>
              </a:defRPr>
            </a:pPr>
            <a:r>
              <a:t>    Expert specialization signatures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